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4" r:id="rId11"/>
    <p:sldId id="265" r:id="rId12"/>
    <p:sldId id="273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7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信息比率</c:v>
          </c:tx>
          <c:spPr>
            <a:solidFill>
              <a:srgbClr val="3D8D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等权基准</c:v>
              </c:pt>
              <c:pt idx="1">
                <c:v>动态配置</c:v>
              </c:pt>
            </c:strLit>
          </c:cat>
          <c:val>
            <c:numLit>
              <c:formatCode>General</c:formatCode>
              <c:ptCount val="2"/>
              <c:pt idx="0">
                <c:v>0.05</c:v>
              </c:pt>
              <c:pt idx="1">
                <c:v>0.44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E23-419F-8C9A-4A06357C746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5"/>
          <c:min val="0"/>
        </c:scaling>
        <c:delete val="0"/>
        <c:axPos val="l"/>
        <c:majorGridlines>
          <c:spPr>
            <a:ln w="9525">
              <a:solidFill>
                <a:srgbClr val="EDEDED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0.1"/>
      </c:valAx>
    </c:plotArea>
    <c:plotVisOnly val="1"/>
    <c:dispBlanksAs val="zero"/>
    <c:showDLblsOverMax val="1"/>
  </c:chart>
  <c:spPr>
    <a:solidFill>
      <a:srgbClr val="FFFFFF"/>
    </a:solidFill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这页按流水线讲。前三步是状态识别；后三步是把状态用于组合。</a:t>
            </a:r>
          </a:p>
          <a:p>
            <a:r>
              <a:t>尤其要强调第5步是相对观点：每个因子对市场，不是绝对看多或看空股市。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Black-Litterman 的价值是让观点不会直接变成极端权重，而是在基准、协方差和置信度约束下被温和吸收。</a:t>
            </a:r>
          </a:p>
          <a:p>
            <a:r>
              <a:t>文章使用等权作为基准，是因为等权在因子配置背景下相对稳健。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这页强调策略边界：长-only、满仓会让最大回撤不一定显著下降，因为它不会像择时策略那样降杠杆。</a:t>
            </a:r>
          </a:p>
          <a:p>
            <a:r>
              <a:t>但这也让策略更容易用 ETF 或指数产品实现。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这页是第一类实证证据：状态信号在单因子层面是否有意义。</a:t>
            </a:r>
          </a:p>
          <a:p>
            <a:r>
              <a:t>夏普都为正说明不是只有一个因子偶然有效；相关性低说明整合后有分散化价值。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这页讲组合表现。注意 IR 0.44 是文章相对市场评估中的最高值，动态组合相对等权基准也有 0.4 到 0.5 的信息比率。</a:t>
            </a:r>
          </a:p>
          <a:p>
            <a:r>
              <a:t>最大回撤改善来自风格倾斜，但因为组合始终满仓，不应把它理解成完整的避险策略。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C3A1F23-2365-4927-9F4B-2D1936ADBA22}"/>
              </a:ext>
            </a:extLst>
          </p:cNvPr>
          <p:cNvSpPr>
            <a:spLocks noGrp="1"/>
          </p:cNvSpPr>
          <p:nvPr/>
        </p:nvSpPr>
        <p:spPr>
          <a:xfrm>
            <a:off x="400050" y="495300"/>
            <a:ext cx="5676900" cy="160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4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基于状态切换信号的</a:t>
            </a:r>
          </a:p>
          <a:p>
            <a:pPr algn="l">
              <a:defRPr sz="4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动态因子配置策略解读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151C3C6-83CB-4FCD-82F3-39721BD00A7F}"/>
              </a:ext>
            </a:extLst>
          </p:cNvPr>
          <p:cNvSpPr>
            <a:spLocks noGrp="1"/>
          </p:cNvSpPr>
          <p:nvPr/>
        </p:nvSpPr>
        <p:spPr>
          <a:xfrm>
            <a:off x="400050" y="234315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从因子周期识别到 Black-Litterman 组合优化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0CAC9E-AD58-42B9-89B8-CA3A4499DA67}"/>
              </a:ext>
            </a:extLst>
          </p:cNvPr>
          <p:cNvSpPr>
            <a:spLocks noGrp="1"/>
          </p:cNvSpPr>
          <p:nvPr/>
        </p:nvSpPr>
        <p:spPr>
          <a:xfrm>
            <a:off x="400050" y="4933950"/>
            <a:ext cx="5334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文章：华安证券金融工程专题报告摘要</a:t>
            </a:r>
          </a:p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核心文献：Dynamic Factor Allocation Leveraging Regime-Switching Signals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27504D8-0536-4EE7-8823-3CDCC6FB7234}"/>
              </a:ext>
            </a:extLst>
          </p:cNvPr>
          <p:cNvSpPr>
            <a:spLocks noGrp="1"/>
          </p:cNvSpPr>
          <p:nvPr/>
        </p:nvSpPr>
        <p:spPr>
          <a:xfrm>
            <a:off x="400050" y="596265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dirty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2025-10-21 </a:t>
            </a:r>
            <a:r>
              <a:rPr sz="1125" b="0" dirty="0" err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发布</a:t>
            </a:r>
            <a:r>
              <a:rPr sz="1125" b="0" dirty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1125" b="0" dirty="0" err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研究解读稿</a:t>
            </a:r>
            <a:endParaRPr sz="1125" b="0" dirty="0">
              <a:solidFill>
                <a:srgbClr val="5D647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BDDE01B-9CF8-4FC3-82F3-8FE5D2385DA6}"/>
              </a:ext>
            </a:extLst>
          </p:cNvPr>
          <p:cNvSpPr>
            <a:spLocks noGrp="1"/>
          </p:cNvSpPr>
          <p:nvPr/>
        </p:nvSpPr>
        <p:spPr>
          <a:xfrm>
            <a:off x="6267450" y="381000"/>
            <a:ext cx="5372100" cy="5581650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43650" y="1875056"/>
            <a:ext cx="5219700" cy="259353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D88E064-68D6-4CBA-9932-332B45538436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23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78513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95617823-1686-4105-B56E-76F4DC5FD718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1600272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00"/>
          </a:bodyPr>
          <a:lstStyle/>
          <a:p>
            <a:pPr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策略的核心是</a:t>
            </a:r>
            <a:r>
              <a:rPr lang="zh-CN" altLang="zh-CN" sz="2850" dirty="0"/>
              <a:t>识别状态转换何时发生，进而利用均衡收益和波动率的持续性获利</a:t>
            </a:r>
            <a:endParaRPr sz="285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9910824-6513-4DE8-B6F5-B3054C5BF823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23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B9CA532-84EC-4F64-9082-0ED16D2F7F1E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来源：今日头条/新浪财经转载华安证券研究；Shu &amp; Mulvey, The Journal of Portfolio Management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6B62266-CB0B-4E69-82A8-1CCFABCAB79F}"/>
              </a:ext>
            </a:extLst>
          </p:cNvPr>
          <p:cNvSpPr>
            <a:spLocks noGrp="1"/>
          </p:cNvSpPr>
          <p:nvPr/>
        </p:nvSpPr>
        <p:spPr>
          <a:xfrm>
            <a:off x="400050" y="1104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它不直接押注明天哪个因子上涨，而是利用状态的持续性，在可投资 ETF/指数之间动态倾斜。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FD1500B-B858-4D13-87FD-D1339A143EF8}"/>
              </a:ext>
            </a:extLst>
          </p:cNvPr>
          <p:cNvSpPr>
            <a:spLocks noGrp="1"/>
          </p:cNvSpPr>
          <p:nvPr/>
        </p:nvSpPr>
        <p:spPr>
          <a:xfrm>
            <a:off x="495300" y="2362200"/>
            <a:ext cx="1409700" cy="552450"/>
          </a:xfrm>
          <a:prstGeom prst="roundRect">
            <a:avLst>
              <a:gd name="adj" fmla="val 3448"/>
            </a:avLst>
          </a:prstGeom>
          <a:solidFill>
            <a:srgbClr val="F2F3F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5669C0-925F-4B17-AA87-755BC9CB7CF9}"/>
              </a:ext>
            </a:extLst>
          </p:cNvPr>
          <p:cNvSpPr>
            <a:spLocks noGrp="1"/>
          </p:cNvSpPr>
          <p:nvPr/>
        </p:nvSpPr>
        <p:spPr>
          <a:xfrm>
            <a:off x="628650" y="247650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因子主动收益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73EEA5-E4FB-4D36-9BF0-77A635912751}"/>
              </a:ext>
            </a:extLst>
          </p:cNvPr>
          <p:cNvSpPr>
            <a:spLocks noGrp="1"/>
          </p:cNvSpPr>
          <p:nvPr/>
        </p:nvSpPr>
        <p:spPr>
          <a:xfrm>
            <a:off x="2019300" y="2457450"/>
            <a:ext cx="304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25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75CC2C1-1642-44DC-B3DF-972A9728CD7F}"/>
              </a:ext>
            </a:extLst>
          </p:cNvPr>
          <p:cNvSpPr>
            <a:spLocks noGrp="1"/>
          </p:cNvSpPr>
          <p:nvPr/>
        </p:nvSpPr>
        <p:spPr>
          <a:xfrm>
            <a:off x="2457450" y="2362200"/>
            <a:ext cx="1409700" cy="552450"/>
          </a:xfrm>
          <a:prstGeom prst="roundRect">
            <a:avLst>
              <a:gd name="adj" fmla="val 3448"/>
            </a:avLst>
          </a:prstGeom>
          <a:solidFill>
            <a:srgbClr val="EAF5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60D92B2-E871-44AB-90E9-722C9FC46411}"/>
              </a:ext>
            </a:extLst>
          </p:cNvPr>
          <p:cNvSpPr>
            <a:spLocks noGrp="1"/>
          </p:cNvSpPr>
          <p:nvPr/>
        </p:nvSpPr>
        <p:spPr>
          <a:xfrm>
            <a:off x="2590800" y="247650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SJM 识别状态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320CC87-2B1E-48B2-8CEF-F169C6800F86}"/>
              </a:ext>
            </a:extLst>
          </p:cNvPr>
          <p:cNvSpPr>
            <a:spLocks noGrp="1"/>
          </p:cNvSpPr>
          <p:nvPr/>
        </p:nvSpPr>
        <p:spPr>
          <a:xfrm>
            <a:off x="3981450" y="2457450"/>
            <a:ext cx="304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25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F729CD2-32B6-48EF-AC5F-0C219F1A5473}"/>
              </a:ext>
            </a:extLst>
          </p:cNvPr>
          <p:cNvSpPr>
            <a:spLocks noGrp="1"/>
          </p:cNvSpPr>
          <p:nvPr/>
        </p:nvSpPr>
        <p:spPr>
          <a:xfrm>
            <a:off x="4419600" y="2362200"/>
            <a:ext cx="1409700" cy="552450"/>
          </a:xfrm>
          <a:prstGeom prst="roundRect">
            <a:avLst>
              <a:gd name="adj" fmla="val 3448"/>
            </a:avLst>
          </a:prstGeom>
          <a:solidFill>
            <a:srgbClr val="F2F3F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6BDB636-9F66-4F3F-A720-D32B8E9F703A}"/>
              </a:ext>
            </a:extLst>
          </p:cNvPr>
          <p:cNvSpPr>
            <a:spLocks noGrp="1"/>
          </p:cNvSpPr>
          <p:nvPr/>
        </p:nvSpPr>
        <p:spPr>
          <a:xfrm>
            <a:off x="4552950" y="247650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牛/熊状态观点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5F833E4-FC46-4EDF-AB3B-C6134A29D3C9}"/>
              </a:ext>
            </a:extLst>
          </p:cNvPr>
          <p:cNvSpPr>
            <a:spLocks noGrp="1"/>
          </p:cNvSpPr>
          <p:nvPr/>
        </p:nvSpPr>
        <p:spPr>
          <a:xfrm>
            <a:off x="5943600" y="2457450"/>
            <a:ext cx="304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25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96844C7-C08B-4E32-AB0C-F522AAC117AA}"/>
              </a:ext>
            </a:extLst>
          </p:cNvPr>
          <p:cNvSpPr>
            <a:spLocks noGrp="1"/>
          </p:cNvSpPr>
          <p:nvPr/>
        </p:nvSpPr>
        <p:spPr>
          <a:xfrm>
            <a:off x="6381750" y="2362200"/>
            <a:ext cx="1409700" cy="552450"/>
          </a:xfrm>
          <a:prstGeom prst="roundRect">
            <a:avLst>
              <a:gd name="adj" fmla="val 3448"/>
            </a:avLst>
          </a:prstGeom>
          <a:solidFill>
            <a:srgbClr val="EAF5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2FE5CC3-04D3-495A-AF97-800949D3005F}"/>
              </a:ext>
            </a:extLst>
          </p:cNvPr>
          <p:cNvSpPr>
            <a:spLocks noGrp="1"/>
          </p:cNvSpPr>
          <p:nvPr/>
        </p:nvSpPr>
        <p:spPr>
          <a:xfrm>
            <a:off x="6515100" y="247650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BL 后验收益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B2447ED-2EE7-4D80-94F9-2D0048CEBC5E}"/>
              </a:ext>
            </a:extLst>
          </p:cNvPr>
          <p:cNvSpPr>
            <a:spLocks noGrp="1"/>
          </p:cNvSpPr>
          <p:nvPr/>
        </p:nvSpPr>
        <p:spPr>
          <a:xfrm>
            <a:off x="7905750" y="2457450"/>
            <a:ext cx="304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25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5D84934-95DE-4F15-9482-33361512E905}"/>
              </a:ext>
            </a:extLst>
          </p:cNvPr>
          <p:cNvSpPr>
            <a:spLocks noGrp="1"/>
          </p:cNvSpPr>
          <p:nvPr/>
        </p:nvSpPr>
        <p:spPr>
          <a:xfrm>
            <a:off x="8343900" y="2362200"/>
            <a:ext cx="1409700" cy="552450"/>
          </a:xfrm>
          <a:prstGeom prst="roundRect">
            <a:avLst>
              <a:gd name="adj" fmla="val 3448"/>
            </a:avLst>
          </a:prstGeom>
          <a:solidFill>
            <a:srgbClr val="F2F3F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56DB8AE-F1EA-4147-9998-31EB8AB57CDB}"/>
              </a:ext>
            </a:extLst>
          </p:cNvPr>
          <p:cNvSpPr>
            <a:spLocks noGrp="1"/>
          </p:cNvSpPr>
          <p:nvPr/>
        </p:nvSpPr>
        <p:spPr>
          <a:xfrm>
            <a:off x="8477250" y="247650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约束优化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CCAC4C3-6FDD-4C88-8612-D0343229D452}"/>
              </a:ext>
            </a:extLst>
          </p:cNvPr>
          <p:cNvSpPr>
            <a:spLocks noGrp="1"/>
          </p:cNvSpPr>
          <p:nvPr/>
        </p:nvSpPr>
        <p:spPr>
          <a:xfrm>
            <a:off x="9867900" y="2457450"/>
            <a:ext cx="304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25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EF6FF4F-0977-4899-A4F8-DC3B6BEFC58D}"/>
              </a:ext>
            </a:extLst>
          </p:cNvPr>
          <p:cNvSpPr>
            <a:spLocks noGrp="1"/>
          </p:cNvSpPr>
          <p:nvPr/>
        </p:nvSpPr>
        <p:spPr>
          <a:xfrm>
            <a:off x="10306050" y="2362200"/>
            <a:ext cx="1409700" cy="552450"/>
          </a:xfrm>
          <a:prstGeom prst="roundRect">
            <a:avLst>
              <a:gd name="adj" fmla="val 3448"/>
            </a:avLst>
          </a:prstGeom>
          <a:solidFill>
            <a:srgbClr val="EAF5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92952B1-AF12-47DE-819F-541F1D669E6E}"/>
              </a:ext>
            </a:extLst>
          </p:cNvPr>
          <p:cNvSpPr>
            <a:spLocks noGrp="1"/>
          </p:cNvSpPr>
          <p:nvPr/>
        </p:nvSpPr>
        <p:spPr>
          <a:xfrm>
            <a:off x="10439400" y="247650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纯多头组合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E3C340C0-CD2A-4C4C-8B53-24C098DBECFA}"/>
              </a:ext>
            </a:extLst>
          </p:cNvPr>
          <p:cNvSpPr>
            <a:spLocks noGrp="1"/>
          </p:cNvSpPr>
          <p:nvPr/>
        </p:nvSpPr>
        <p:spPr>
          <a:xfrm>
            <a:off x="495300" y="3714750"/>
            <a:ext cx="3352800" cy="1219200"/>
          </a:xfrm>
          <a:prstGeom prst="roundRect">
            <a:avLst>
              <a:gd name="adj" fmla="val 4688"/>
            </a:avLst>
          </a:prstGeom>
          <a:solidFill>
            <a:srgbClr val="F2F3F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46250C-6662-4FA9-B1FC-AFCF32667D7E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819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6474E99-43F0-4544-8583-810BD7EA43B5}"/>
              </a:ext>
            </a:extLst>
          </p:cNvPr>
          <p:cNvSpPr>
            <a:spLocks noGrp="1"/>
          </p:cNvSpPr>
          <p:nvPr/>
        </p:nvSpPr>
        <p:spPr>
          <a:xfrm>
            <a:off x="723900" y="4343400"/>
            <a:ext cx="2838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375"/>
          </a:bodyPr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市场指数 + 六类风格因子指数</a:t>
            </a:r>
          </a:p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价值、规模、动量、质量、低波、成长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2CE17AF5-6E48-46DD-B85F-94CB891E6FC9}"/>
              </a:ext>
            </a:extLst>
          </p:cNvPr>
          <p:cNvSpPr>
            <a:spLocks noGrp="1"/>
          </p:cNvSpPr>
          <p:nvPr/>
        </p:nvSpPr>
        <p:spPr>
          <a:xfrm>
            <a:off x="4419600" y="3714750"/>
            <a:ext cx="3352800" cy="1219200"/>
          </a:xfrm>
          <a:prstGeom prst="roundRect">
            <a:avLst>
              <a:gd name="adj" fmla="val 4688"/>
            </a:avLst>
          </a:prstGeom>
          <a:solidFill>
            <a:srgbClr val="F5FAF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75F158C-DF60-42A4-ADBE-7AF3A8C0CC42}"/>
              </a:ext>
            </a:extLst>
          </p:cNvPr>
          <p:cNvSpPr>
            <a:spLocks noGrp="1"/>
          </p:cNvSpPr>
          <p:nvPr/>
        </p:nvSpPr>
        <p:spPr>
          <a:xfrm>
            <a:off x="4648200" y="3943350"/>
            <a:ext cx="819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1800" b="1">
                <a:solidFill>
                  <a:srgbClr val="2F9E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9E74"/>
                </a:solidFill>
                <a:latin typeface="Microsoft YaHei"/>
                <a:ea typeface="Microsoft YaHei"/>
                <a:cs typeface="Microsoft YaHei"/>
              </a:rPr>
              <a:t>转换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4FCA984-4C1B-44FC-AB0B-327F684B6370}"/>
              </a:ext>
            </a:extLst>
          </p:cNvPr>
          <p:cNvSpPr>
            <a:spLocks noGrp="1"/>
          </p:cNvSpPr>
          <p:nvPr/>
        </p:nvSpPr>
        <p:spPr>
          <a:xfrm>
            <a:off x="4648200" y="4343400"/>
            <a:ext cx="2838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每个因子的状态推断，变成相对市场的主动收益观点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97A1B09E-746A-4683-AD55-FF5A703E8BF3}"/>
              </a:ext>
            </a:extLst>
          </p:cNvPr>
          <p:cNvSpPr>
            <a:spLocks noGrp="1"/>
          </p:cNvSpPr>
          <p:nvPr/>
        </p:nvSpPr>
        <p:spPr>
          <a:xfrm>
            <a:off x="8343900" y="3714750"/>
            <a:ext cx="3067050" cy="1219200"/>
          </a:xfrm>
          <a:prstGeom prst="roundRect">
            <a:avLst>
              <a:gd name="adj" fmla="val 4688"/>
            </a:avLst>
          </a:prstGeom>
          <a:solidFill>
            <a:srgbClr val="FFF7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C29B726-C1CF-44A9-B02E-CC5283504780}"/>
              </a:ext>
            </a:extLst>
          </p:cNvPr>
          <p:cNvSpPr>
            <a:spLocks noGrp="1"/>
          </p:cNvSpPr>
          <p:nvPr/>
        </p:nvSpPr>
        <p:spPr>
          <a:xfrm>
            <a:off x="8572500" y="3943350"/>
            <a:ext cx="819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l">
              <a:defRPr sz="1800" b="1">
                <a:solidFill>
                  <a:srgbClr val="D69E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69E2E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7BA006B-0C0F-4060-986C-6F642CF49711}"/>
              </a:ext>
            </a:extLst>
          </p:cNvPr>
          <p:cNvSpPr>
            <a:spLocks noGrp="1"/>
          </p:cNvSpPr>
          <p:nvPr/>
        </p:nvSpPr>
        <p:spPr>
          <a:xfrm>
            <a:off x="8572500" y="4343400"/>
            <a:ext cx="2590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全仓、只做多、考虑成本和跟踪误差的动态因子组合</a:t>
            </a:r>
          </a:p>
        </p:txBody>
      </p:sp>
    </p:spTree>
    <p:extLst>
      <p:ext uri="{BB962C8B-B14F-4D97-AF65-F5344CB8AC3E}">
        <p14:creationId xmlns:p14="http://schemas.microsoft.com/office/powerpoint/2010/main" val="1143043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EF8A2E49-57E7-4414-B4F5-3848AC2FCE8D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81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因子长期有溢价，但短期表现强烈分段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48E4B28-62BE-455B-953E-E67E36FCBFEC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23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E2E0204-2B09-4E15-B6FB-BF1F36A7FDD8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来源：今日头条/新浪财经转载华安证券研究；Shu &amp; Mulvey, The Journal of Portfolio Management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2A4591C-4AC9-460F-8B9A-E7F8D31A0F6A}"/>
              </a:ext>
            </a:extLst>
          </p:cNvPr>
          <p:cNvSpPr>
            <a:spLocks noGrp="1"/>
          </p:cNvSpPr>
          <p:nvPr/>
        </p:nvSpPr>
        <p:spPr>
          <a:xfrm>
            <a:off x="400050" y="1104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静态等权会承受风格因子多年逆风；状态框架试图识别“逆风是否已经发生”。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3F6FA50-0465-4311-899F-7C1A57F2AA77}"/>
              </a:ext>
            </a:extLst>
          </p:cNvPr>
          <p:cNvSpPr>
            <a:spLocks noGrp="1"/>
          </p:cNvSpPr>
          <p:nvPr/>
        </p:nvSpPr>
        <p:spPr>
          <a:xfrm>
            <a:off x="523875" y="1924050"/>
            <a:ext cx="3429000" cy="2705100"/>
          </a:xfrm>
          <a:prstGeom prst="roundRect">
            <a:avLst>
              <a:gd name="adj" fmla="val 2113"/>
            </a:avLst>
          </a:prstGeom>
          <a:solidFill>
            <a:srgbClr val="F2F3F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D32F93-ED81-4D40-9C72-957BF110B696}"/>
              </a:ext>
            </a:extLst>
          </p:cNvPr>
          <p:cNvSpPr>
            <a:spLocks noGrp="1"/>
          </p:cNvSpPr>
          <p:nvPr/>
        </p:nvSpPr>
        <p:spPr>
          <a:xfrm>
            <a:off x="781050" y="21907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长期逻辑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CB6777-69DD-4B0F-906B-5C4C84F4F8BF}"/>
              </a:ext>
            </a:extLst>
          </p:cNvPr>
          <p:cNvSpPr>
            <a:spLocks noGrp="1"/>
          </p:cNvSpPr>
          <p:nvPr/>
        </p:nvSpPr>
        <p:spPr>
          <a:xfrm>
            <a:off x="781050" y="2705100"/>
            <a:ext cx="27241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价值、动量、质量等因子在长样本中可能带来风险溢价，但不同阶段收益贡献差异很大。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A4FEA50-FF0A-412F-8DD0-88B2F71E3A6D}"/>
              </a:ext>
            </a:extLst>
          </p:cNvPr>
          <p:cNvSpPr>
            <a:spLocks noGrp="1"/>
          </p:cNvSpPr>
          <p:nvPr/>
        </p:nvSpPr>
        <p:spPr>
          <a:xfrm>
            <a:off x="4381500" y="1924050"/>
            <a:ext cx="3429000" cy="2705100"/>
          </a:xfrm>
          <a:prstGeom prst="roundRect">
            <a:avLst>
              <a:gd name="adj" fmla="val 2113"/>
            </a:avLst>
          </a:prstGeom>
          <a:solidFill>
            <a:srgbClr val="EAF5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EF31FA-4A53-450B-893A-45BEAE206499}"/>
              </a:ext>
            </a:extLst>
          </p:cNvPr>
          <p:cNvSpPr>
            <a:spLocks noGrp="1"/>
          </p:cNvSpPr>
          <p:nvPr/>
        </p:nvSpPr>
        <p:spPr>
          <a:xfrm>
            <a:off x="4638675" y="21907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周期困境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FABE18B-859E-4798-85B7-45D8B1CAB08B}"/>
              </a:ext>
            </a:extLst>
          </p:cNvPr>
          <p:cNvSpPr>
            <a:spLocks noGrp="1"/>
          </p:cNvSpPr>
          <p:nvPr/>
        </p:nvSpPr>
        <p:spPr>
          <a:xfrm>
            <a:off x="4638675" y="2705100"/>
            <a:ext cx="27241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某些因子会连续多年跑输，例如价值因子在近十年经历较长回撤，等权配置难以及时调整。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41CD8CC-AA33-4A21-ADFA-3E185AA15742}"/>
              </a:ext>
            </a:extLst>
          </p:cNvPr>
          <p:cNvSpPr>
            <a:spLocks noGrp="1"/>
          </p:cNvSpPr>
          <p:nvPr/>
        </p:nvSpPr>
        <p:spPr>
          <a:xfrm>
            <a:off x="8239125" y="1924050"/>
            <a:ext cx="3429000" cy="2705100"/>
          </a:xfrm>
          <a:prstGeom prst="roundRect">
            <a:avLst>
              <a:gd name="adj" fmla="val 2113"/>
            </a:avLst>
          </a:prstGeom>
          <a:solidFill>
            <a:srgbClr val="F5FAF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1F658EC-775D-4DF4-8D8D-511BCE35290A}"/>
              </a:ext>
            </a:extLst>
          </p:cNvPr>
          <p:cNvSpPr>
            <a:spLocks noGrp="1"/>
          </p:cNvSpPr>
          <p:nvPr/>
        </p:nvSpPr>
        <p:spPr>
          <a:xfrm>
            <a:off x="8496300" y="21907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2F9E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F9E74"/>
                </a:solidFill>
                <a:latin typeface="Microsoft YaHei"/>
                <a:ea typeface="Microsoft YaHei"/>
                <a:cs typeface="Microsoft YaHei"/>
              </a:rPr>
              <a:t>策略机会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915201-C72F-4FDD-BD19-2E0357BEFB78}"/>
              </a:ext>
            </a:extLst>
          </p:cNvPr>
          <p:cNvSpPr>
            <a:spLocks noGrp="1"/>
          </p:cNvSpPr>
          <p:nvPr/>
        </p:nvSpPr>
        <p:spPr>
          <a:xfrm>
            <a:off x="8496300" y="2705100"/>
            <a:ext cx="27241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若状态具有持续性，识别当前状态就能调整风险预算，而不必预测精确转折点。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DAF9EB1-8622-400E-84EC-277CB0F7C4EC}"/>
              </a:ext>
            </a:extLst>
          </p:cNvPr>
          <p:cNvSpPr>
            <a:spLocks noGrp="1"/>
          </p:cNvSpPr>
          <p:nvPr/>
        </p:nvSpPr>
        <p:spPr>
          <a:xfrm>
            <a:off x="1257300" y="5219700"/>
            <a:ext cx="9677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关键区别：状态分析是无监督识别“</a:t>
            </a:r>
            <a:r>
              <a:rPr sz="16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现在像什么环境</a:t>
            </a:r>
            <a:r>
              <a:rPr sz="165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”，</a:t>
            </a:r>
            <a:r>
              <a:rPr sz="16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传统择时是监督预测“未来收益是多少</a:t>
            </a:r>
            <a:r>
              <a:rPr sz="165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”。</a:t>
            </a:r>
          </a:p>
        </p:txBody>
      </p:sp>
    </p:spTree>
    <p:extLst>
      <p:ext uri="{BB962C8B-B14F-4D97-AF65-F5344CB8AC3E}">
        <p14:creationId xmlns:p14="http://schemas.microsoft.com/office/powerpoint/2010/main" val="2039276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772BD26-1769-4708-BCC7-DD2505261BB1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81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投资对象设计成现实中能买到的七个指数</a:t>
            </a:r>
            <a:endParaRPr sz="285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3A982A1-108B-4802-974B-2612CD5BEDEB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23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6EAE766-8026-4170-9C05-3994206C3681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来源：今日头条/新浪财经转载华安证券研究；Shu &amp; Mulvey, The Journal of Portfolio Management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94DF233-6F00-435C-B438-C002E8359A5D}"/>
              </a:ext>
            </a:extLst>
          </p:cNvPr>
          <p:cNvSpPr>
            <a:spLocks noGrp="1"/>
          </p:cNvSpPr>
          <p:nvPr/>
        </p:nvSpPr>
        <p:spPr>
          <a:xfrm>
            <a:off x="400050" y="865034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研究用美国市场指数作为基准，并配置六个只做多</a:t>
            </a:r>
            <a:r>
              <a:rPr sz="1275" b="0" dirty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 smart beta </a:t>
            </a:r>
            <a:r>
              <a:rPr sz="1275" b="0" dirty="0" err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风格指数；所有指数均可由</a:t>
            </a:r>
            <a:r>
              <a:rPr sz="1275" b="0" dirty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 ETF </a:t>
            </a:r>
            <a:r>
              <a:rPr sz="1275" b="0" dirty="0" err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近似实现</a:t>
            </a:r>
            <a:r>
              <a:rPr sz="1275" b="0" dirty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0" y="0"/>
          <a:ext cx="0" cy="0"/>
        </p:xfrm>
        <a:graphic>
          <a:graphicData uri="http://schemas.openxmlformats.org/drawingml/2006/table">
            <a:tbl>
              <a:tblPr/>
              <a:tblGrid>
                <a:gridCol w="1381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7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2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t>角色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指数/因子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策略含义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为什么纳入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t>基准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市场指数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整体股票市场暴露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提供相对收益参照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t>风格1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价值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低估值股票倾斜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代表价值溢价周期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t>风格2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规模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小盘/规模暴露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分散市值结构风险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t>风格3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趋势延续暴露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捕捉价格惯性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t>风格4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盈利/财务质量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防御与稳健收益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t>风格5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低波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低波动股票倾斜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控制组合波动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t>风格6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成长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成长属性暴露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反映成长风格周期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0EF4B854-B30C-4854-B88E-DFF50FE2045B}"/>
              </a:ext>
            </a:extLst>
          </p:cNvPr>
          <p:cNvSpPr>
            <a:spLocks noGrp="1"/>
          </p:cNvSpPr>
          <p:nvPr/>
        </p:nvSpPr>
        <p:spPr>
          <a:xfrm>
            <a:off x="547592" y="6076950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数据设定：日度收益；1993-2024 </a:t>
            </a:r>
            <a:r>
              <a:rPr sz="150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年样本</a:t>
            </a:r>
            <a:endParaRPr sz="150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4F8BAC2-CB01-9546-4785-5BFE454D2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42418"/>
            <a:ext cx="6842658" cy="478986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915FC2B-F11F-1FEC-3C11-8CBE86CC6288}"/>
              </a:ext>
            </a:extLst>
          </p:cNvPr>
          <p:cNvSpPr txBox="1"/>
          <p:nvPr/>
        </p:nvSpPr>
        <p:spPr>
          <a:xfrm>
            <a:off x="282297" y="1057618"/>
            <a:ext cx="748703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b="1" dirty="0">
                <a:solidFill>
                  <a:srgbClr val="111111"/>
                </a:solidFill>
                <a:latin typeface="Microsoft YaHei"/>
                <a:ea typeface="Microsoft YaHei"/>
              </a:rPr>
              <a:t>因子指数的累积主动回报和绝对回报（</a:t>
            </a:r>
            <a:r>
              <a:rPr lang="en-US" altLang="zh-CN" sz="1500" b="1" dirty="0">
                <a:solidFill>
                  <a:srgbClr val="111111"/>
                </a:solidFill>
                <a:latin typeface="Microsoft YaHei"/>
                <a:ea typeface="Microsoft YaHei"/>
              </a:rPr>
              <a:t>1993-2024</a:t>
            </a:r>
            <a:r>
              <a:rPr lang="zh-CN" altLang="en-US" sz="1500" b="1" dirty="0">
                <a:solidFill>
                  <a:srgbClr val="111111"/>
                </a:solidFill>
                <a:latin typeface="Microsoft YaHei"/>
                <a:ea typeface="Microsoft YaHei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413301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23F56DB0-A25B-430D-932C-A802C6E1073F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81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完整流程分成六步，每一步都有明确输入和输出</a:t>
            </a:r>
            <a:endParaRPr sz="285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A218E1-2A0D-445E-879A-5E4FA4A69679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23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07F1668-7A8D-4E94-9215-7A5944AFB7BE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来源：今日头条/新浪财经转载华安证券研究；Shu &amp; Mulvey, The Journal of Portfolio Management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76B5E5-83B4-47B6-9099-1E691FF89A92}"/>
              </a:ext>
            </a:extLst>
          </p:cNvPr>
          <p:cNvSpPr>
            <a:spLocks noGrp="1"/>
          </p:cNvSpPr>
          <p:nvPr/>
        </p:nvSpPr>
        <p:spPr>
          <a:xfrm>
            <a:off x="400050" y="1104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从日度数据出发，先分别判断因子状态，再把六个状态观点合成为组合。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E137E3A-3576-49FB-838E-38E169B94FD4}"/>
              </a:ext>
            </a:extLst>
          </p:cNvPr>
          <p:cNvSpPr>
            <a:spLocks noGrp="1"/>
          </p:cNvSpPr>
          <p:nvPr/>
        </p:nvSpPr>
        <p:spPr>
          <a:xfrm>
            <a:off x="590550" y="1809750"/>
            <a:ext cx="3238500" cy="1257300"/>
          </a:xfrm>
          <a:prstGeom prst="roundRect">
            <a:avLst>
              <a:gd name="adj" fmla="val 1515"/>
            </a:avLst>
          </a:prstGeom>
          <a:solidFill>
            <a:srgbClr val="F2F3F5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0E60CF-9737-42F8-8048-649C32190866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1DC16F-227B-4E72-8640-53E1A28040D7}"/>
              </a:ext>
            </a:extLst>
          </p:cNvPr>
          <p:cNvSpPr>
            <a:spLocks noGrp="1"/>
          </p:cNvSpPr>
          <p:nvPr/>
        </p:nvSpPr>
        <p:spPr>
          <a:xfrm>
            <a:off x="1333500" y="20002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计算主动收益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1E5746C-2C3D-48B1-B107-CFE9EC2151AA}"/>
              </a:ext>
            </a:extLst>
          </p:cNvPr>
          <p:cNvSpPr>
            <a:spLocks noGrp="1"/>
          </p:cNvSpPr>
          <p:nvPr/>
        </p:nvSpPr>
        <p:spPr>
          <a:xfrm>
            <a:off x="1333500" y="241935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因子指数收益 - 市场指数收益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A2CEC25-AD5F-4339-9CB4-F8FBE36B6F2F}"/>
              </a:ext>
            </a:extLst>
          </p:cNvPr>
          <p:cNvSpPr>
            <a:spLocks noGrp="1"/>
          </p:cNvSpPr>
          <p:nvPr/>
        </p:nvSpPr>
        <p:spPr>
          <a:xfrm>
            <a:off x="3924300" y="2209800"/>
            <a:ext cx="323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3AB64AC-345D-4F01-AF0E-94D9936F683F}"/>
              </a:ext>
            </a:extLst>
          </p:cNvPr>
          <p:cNvSpPr>
            <a:spLocks noGrp="1"/>
          </p:cNvSpPr>
          <p:nvPr/>
        </p:nvSpPr>
        <p:spPr>
          <a:xfrm>
            <a:off x="4352925" y="1809750"/>
            <a:ext cx="3238500" cy="1257300"/>
          </a:xfrm>
          <a:prstGeom prst="roundRect">
            <a:avLst>
              <a:gd name="adj" fmla="val 1515"/>
            </a:avLst>
          </a:prstGeom>
          <a:solidFill>
            <a:srgbClr val="F2F3F5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F4FD213-494A-4234-A30F-DC82CB035C40}"/>
              </a:ext>
            </a:extLst>
          </p:cNvPr>
          <p:cNvSpPr>
            <a:spLocks noGrp="1"/>
          </p:cNvSpPr>
          <p:nvPr/>
        </p:nvSpPr>
        <p:spPr>
          <a:xfrm>
            <a:off x="4543425" y="20002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71A0E53-4484-49E5-AA27-A8ABC8E151EA}"/>
              </a:ext>
            </a:extLst>
          </p:cNvPr>
          <p:cNvSpPr>
            <a:spLocks noGrp="1"/>
          </p:cNvSpPr>
          <p:nvPr/>
        </p:nvSpPr>
        <p:spPr>
          <a:xfrm>
            <a:off x="5095875" y="20002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构造特征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C09079F-DCB1-4AA2-A95C-68304F5AC9F5}"/>
              </a:ext>
            </a:extLst>
          </p:cNvPr>
          <p:cNvSpPr>
            <a:spLocks noGrp="1"/>
          </p:cNvSpPr>
          <p:nvPr/>
        </p:nvSpPr>
        <p:spPr>
          <a:xfrm>
            <a:off x="5095875" y="241935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历史主动收益的风险/收益指标 + 市场环境变量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40235AD-F137-4E34-AA7A-AC5212F54AC3}"/>
              </a:ext>
            </a:extLst>
          </p:cNvPr>
          <p:cNvSpPr>
            <a:spLocks noGrp="1"/>
          </p:cNvSpPr>
          <p:nvPr/>
        </p:nvSpPr>
        <p:spPr>
          <a:xfrm>
            <a:off x="7686675" y="2209800"/>
            <a:ext cx="323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5FF963D-8584-433B-B60B-7E99A1C2C24B}"/>
              </a:ext>
            </a:extLst>
          </p:cNvPr>
          <p:cNvSpPr>
            <a:spLocks noGrp="1"/>
          </p:cNvSpPr>
          <p:nvPr/>
        </p:nvSpPr>
        <p:spPr>
          <a:xfrm>
            <a:off x="8115300" y="1809750"/>
            <a:ext cx="3238500" cy="1257300"/>
          </a:xfrm>
          <a:prstGeom prst="roundRect">
            <a:avLst>
              <a:gd name="adj" fmla="val 1515"/>
            </a:avLst>
          </a:prstGeom>
          <a:solidFill>
            <a:srgbClr val="F2F3F5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B7E1AAD-CB99-404C-860A-221EDB994478}"/>
              </a:ext>
            </a:extLst>
          </p:cNvPr>
          <p:cNvSpPr>
            <a:spLocks noGrp="1"/>
          </p:cNvSpPr>
          <p:nvPr/>
        </p:nvSpPr>
        <p:spPr>
          <a:xfrm>
            <a:off x="8305800" y="20002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03CFE69-9E4C-43ED-92E1-1CFE13B76E4C}"/>
              </a:ext>
            </a:extLst>
          </p:cNvPr>
          <p:cNvSpPr>
            <a:spLocks noGrp="1"/>
          </p:cNvSpPr>
          <p:nvPr/>
        </p:nvSpPr>
        <p:spPr>
          <a:xfrm>
            <a:off x="8858250" y="20002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SJM 聚类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810933D-7DA5-463A-8BAB-8A0793F7C320}"/>
              </a:ext>
            </a:extLst>
          </p:cNvPr>
          <p:cNvSpPr>
            <a:spLocks noGrp="1"/>
          </p:cNvSpPr>
          <p:nvPr/>
        </p:nvSpPr>
        <p:spPr>
          <a:xfrm>
            <a:off x="8858250" y="241935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识别每个因子的牛/熊两状态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B1DE093-D62E-4DB4-B15C-7E2757B61C57}"/>
              </a:ext>
            </a:extLst>
          </p:cNvPr>
          <p:cNvSpPr>
            <a:spLocks noGrp="1"/>
          </p:cNvSpPr>
          <p:nvPr/>
        </p:nvSpPr>
        <p:spPr>
          <a:xfrm>
            <a:off x="590550" y="3619500"/>
            <a:ext cx="3238500" cy="1257300"/>
          </a:xfrm>
          <a:prstGeom prst="roundRect">
            <a:avLst>
              <a:gd name="adj" fmla="val 1515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406D87B-AED8-4A3B-BDC3-09B0B0591615}"/>
              </a:ext>
            </a:extLst>
          </p:cNvPr>
          <p:cNvSpPr>
            <a:spLocks noGrp="1"/>
          </p:cNvSpPr>
          <p:nvPr/>
        </p:nvSpPr>
        <p:spPr>
          <a:xfrm>
            <a:off x="781050" y="381000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100" b="1">
                <a:solidFill>
                  <a:srgbClr val="2F9E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9E7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F548178-4AC8-482F-98A0-E0482CA72D1A}"/>
              </a:ext>
            </a:extLst>
          </p:cNvPr>
          <p:cNvSpPr>
            <a:spLocks noGrp="1"/>
          </p:cNvSpPr>
          <p:nvPr/>
        </p:nvSpPr>
        <p:spPr>
          <a:xfrm>
            <a:off x="1333500" y="38100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在线推断</a:t>
            </a:r>
            <a:r>
              <a:rPr lang="en-US" sz="1725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725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调参）</a:t>
            </a:r>
            <a:endParaRPr sz="1725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95767C0-6F47-4ECD-8913-739EE5AD47D5}"/>
              </a:ext>
            </a:extLst>
          </p:cNvPr>
          <p:cNvSpPr>
            <a:spLocks noGrp="1"/>
          </p:cNvSpPr>
          <p:nvPr/>
        </p:nvSpPr>
        <p:spPr>
          <a:xfrm>
            <a:off x="1333500" y="422910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月度重估；用最新特征判断当前状态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A74F96F-90B2-4CCB-8FF6-88DA2D9F975D}"/>
              </a:ext>
            </a:extLst>
          </p:cNvPr>
          <p:cNvSpPr>
            <a:spLocks noGrp="1"/>
          </p:cNvSpPr>
          <p:nvPr/>
        </p:nvSpPr>
        <p:spPr>
          <a:xfrm>
            <a:off x="3924300" y="4019550"/>
            <a:ext cx="323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45DC456D-A31C-485D-B14A-0F1E3F19B461}"/>
              </a:ext>
            </a:extLst>
          </p:cNvPr>
          <p:cNvSpPr>
            <a:spLocks noGrp="1"/>
          </p:cNvSpPr>
          <p:nvPr/>
        </p:nvSpPr>
        <p:spPr>
          <a:xfrm>
            <a:off x="4352925" y="3619500"/>
            <a:ext cx="3238500" cy="1257300"/>
          </a:xfrm>
          <a:prstGeom prst="roundRect">
            <a:avLst>
              <a:gd name="adj" fmla="val 1515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93F0313-5B33-459D-9CF1-24087B55E480}"/>
              </a:ext>
            </a:extLst>
          </p:cNvPr>
          <p:cNvSpPr>
            <a:spLocks noGrp="1"/>
          </p:cNvSpPr>
          <p:nvPr/>
        </p:nvSpPr>
        <p:spPr>
          <a:xfrm>
            <a:off x="4543425" y="381000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100" b="1">
                <a:solidFill>
                  <a:srgbClr val="2F9E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9E74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96EE2A0-8F4B-43B9-A7C1-FCA175D22C17}"/>
              </a:ext>
            </a:extLst>
          </p:cNvPr>
          <p:cNvSpPr>
            <a:spLocks noGrp="1"/>
          </p:cNvSpPr>
          <p:nvPr/>
        </p:nvSpPr>
        <p:spPr>
          <a:xfrm>
            <a:off x="5095875" y="38100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形成观点</a:t>
            </a:r>
            <a:endParaRPr sz="1725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3B68455-F6DC-4F74-873D-6DB99FD49149}"/>
              </a:ext>
            </a:extLst>
          </p:cNvPr>
          <p:cNvSpPr>
            <a:spLocks noGrp="1"/>
          </p:cNvSpPr>
          <p:nvPr/>
        </p:nvSpPr>
        <p:spPr>
          <a:xfrm>
            <a:off x="5095875" y="422910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牛市看多因子相对市场；熊市相反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B5921DE-6960-4BF4-9426-7A6258F9E15C}"/>
              </a:ext>
            </a:extLst>
          </p:cNvPr>
          <p:cNvSpPr>
            <a:spLocks noGrp="1"/>
          </p:cNvSpPr>
          <p:nvPr/>
        </p:nvSpPr>
        <p:spPr>
          <a:xfrm>
            <a:off x="7686675" y="4019550"/>
            <a:ext cx="323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05F99A79-49DB-4E7C-94E8-FE177489FFBA}"/>
              </a:ext>
            </a:extLst>
          </p:cNvPr>
          <p:cNvSpPr>
            <a:spLocks noGrp="1"/>
          </p:cNvSpPr>
          <p:nvPr/>
        </p:nvSpPr>
        <p:spPr>
          <a:xfrm>
            <a:off x="8115300" y="3619500"/>
            <a:ext cx="3238500" cy="1257300"/>
          </a:xfrm>
          <a:prstGeom prst="roundRect">
            <a:avLst>
              <a:gd name="adj" fmla="val 1515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21FAB05-281B-485D-B826-75A529915666}"/>
              </a:ext>
            </a:extLst>
          </p:cNvPr>
          <p:cNvSpPr>
            <a:spLocks noGrp="1"/>
          </p:cNvSpPr>
          <p:nvPr/>
        </p:nvSpPr>
        <p:spPr>
          <a:xfrm>
            <a:off x="8305800" y="381000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100" b="1">
                <a:solidFill>
                  <a:srgbClr val="2F9E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9E74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C0167B5-CC04-4612-A48D-5D82EFABF01F}"/>
              </a:ext>
            </a:extLst>
          </p:cNvPr>
          <p:cNvSpPr>
            <a:spLocks noGrp="1"/>
          </p:cNvSpPr>
          <p:nvPr/>
        </p:nvSpPr>
        <p:spPr>
          <a:xfrm>
            <a:off x="8858250" y="38100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BL 优化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884A440-1158-40CD-A0B0-3B694FB06D50}"/>
              </a:ext>
            </a:extLst>
          </p:cNvPr>
          <p:cNvSpPr>
            <a:spLocks noGrp="1"/>
          </p:cNvSpPr>
          <p:nvPr/>
        </p:nvSpPr>
        <p:spPr>
          <a:xfrm>
            <a:off x="8858250" y="422910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后验收益 + 约束优化得到七指数权重</a:t>
            </a:r>
          </a:p>
        </p:txBody>
      </p:sp>
    </p:spTree>
    <p:extLst>
      <p:ext uri="{BB962C8B-B14F-4D97-AF65-F5344CB8AC3E}">
        <p14:creationId xmlns:p14="http://schemas.microsoft.com/office/powerpoint/2010/main" val="1945977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B9C064B9-345D-4D14-8381-282D3F074EB8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81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状态标签来自“因子相对市场的主动表现</a:t>
            </a:r>
            <a:r>
              <a:rPr sz="285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”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C6342E8-B9DD-47B0-B66A-323D3C9991E9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23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DC3E55-A9B3-4404-9C97-644DC5893A1C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来源：今日头条/新浪财经转载华安证券研究；Shu &amp; Mulvey, The Journal of Portfolio Management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6727C9D-DD9C-4E65-B8F7-57E4A98007F6}"/>
              </a:ext>
            </a:extLst>
          </p:cNvPr>
          <p:cNvSpPr>
            <a:spLocks noGrp="1"/>
          </p:cNvSpPr>
          <p:nvPr/>
        </p:nvSpPr>
        <p:spPr>
          <a:xfrm>
            <a:off x="400050" y="1104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每个风格因子都单独建模，因此价值、动量、质量等因子可以处于不同状态。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AE3B220-54A3-4CA6-965B-2E8B6AA8D487}"/>
              </a:ext>
            </a:extLst>
          </p:cNvPr>
          <p:cNvSpPr>
            <a:spLocks noGrp="1"/>
          </p:cNvSpPr>
          <p:nvPr/>
        </p:nvSpPr>
        <p:spPr>
          <a:xfrm>
            <a:off x="819150" y="20383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主动收益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B9C2B27-FA3D-45FF-9C9C-C775D4D55C8C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476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r</a:t>
            </a:r>
            <a:r>
              <a:rPr lang="en-US" altLang="zh-CN" sz="2000" b="1" dirty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ᵃᶜᵗᶦᵛᵉ</a:t>
            </a:r>
            <a:r>
              <a:rPr sz="2250" b="1" dirty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_</a:t>
            </a:r>
            <a:r>
              <a:rPr sz="2250" b="1" dirty="0" err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f,t</a:t>
            </a:r>
            <a:r>
              <a:rPr sz="2250" b="1" dirty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 = </a:t>
            </a:r>
            <a:r>
              <a:rPr sz="2250" b="1" dirty="0" err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r_factor,t</a:t>
            </a:r>
            <a:r>
              <a:rPr sz="2250" b="1" dirty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 - </a:t>
            </a:r>
            <a:r>
              <a:rPr sz="2250" b="1" dirty="0" err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r_market,t</a:t>
            </a:r>
            <a:endParaRPr sz="2250" b="1" dirty="0">
              <a:solidFill>
                <a:srgbClr val="3D8D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1DD1070-0782-4176-B31B-CBDED3BEC679}"/>
              </a:ext>
            </a:extLst>
          </p:cNvPr>
          <p:cNvSpPr>
            <a:spLocks noGrp="1"/>
          </p:cNvSpPr>
          <p:nvPr/>
        </p:nvSpPr>
        <p:spPr>
          <a:xfrm>
            <a:off x="800100" y="3314701"/>
            <a:ext cx="4896757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若状态</a:t>
            </a:r>
            <a:r>
              <a:rPr sz="15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A 的后续主动收益均值更高，可解释为该因子的“</a:t>
            </a:r>
            <a:r>
              <a:rPr sz="15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牛市状态</a:t>
            </a:r>
            <a:r>
              <a:rPr sz="15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”；</a:t>
            </a:r>
            <a:r>
              <a:rPr sz="15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状态</a:t>
            </a:r>
            <a:r>
              <a:rPr sz="15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B </a:t>
            </a:r>
            <a:r>
              <a:rPr sz="15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则解释为该因子的“熊市状态</a:t>
            </a:r>
            <a:r>
              <a:rPr sz="15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”。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30822C1-7C64-477B-AB4F-913B3AB7C4D5}"/>
              </a:ext>
            </a:extLst>
          </p:cNvPr>
          <p:cNvSpPr>
            <a:spLocks noGrp="1"/>
          </p:cNvSpPr>
          <p:nvPr/>
        </p:nvSpPr>
        <p:spPr>
          <a:xfrm>
            <a:off x="6438900" y="1657350"/>
            <a:ext cx="2190750" cy="2952750"/>
          </a:xfrm>
          <a:prstGeom prst="roundRect">
            <a:avLst>
              <a:gd name="adj" fmla="val 2609"/>
            </a:avLst>
          </a:prstGeom>
          <a:solidFill>
            <a:srgbClr val="F5FAF1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F2DDC8-988A-4D6C-B3FC-422E1F8D8327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950" b="1">
                <a:solidFill>
                  <a:srgbClr val="2F9E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F9E74"/>
                </a:solidFill>
                <a:latin typeface="Microsoft YaHei"/>
                <a:ea typeface="Microsoft YaHei"/>
                <a:cs typeface="Microsoft YaHei"/>
              </a:rPr>
              <a:t>因子牛市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0637B5-35F6-44EE-B325-ED94C676D3A3}"/>
              </a:ext>
            </a:extLst>
          </p:cNvPr>
          <p:cNvSpPr>
            <a:spLocks noGrp="1"/>
          </p:cNvSpPr>
          <p:nvPr/>
        </p:nvSpPr>
        <p:spPr>
          <a:xfrm>
            <a:off x="6762750" y="2705100"/>
            <a:ext cx="1524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相对市场</a:t>
            </a:r>
          </a:p>
          <a:p>
            <a:pPr algn="ctr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更可能取得正主动收益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AE7E2FA-C57E-467E-A166-5F4B5F60A37F}"/>
              </a:ext>
            </a:extLst>
          </p:cNvPr>
          <p:cNvSpPr>
            <a:spLocks noGrp="1"/>
          </p:cNvSpPr>
          <p:nvPr/>
        </p:nvSpPr>
        <p:spPr>
          <a:xfrm>
            <a:off x="9124950" y="1657350"/>
            <a:ext cx="2190750" cy="2952750"/>
          </a:xfrm>
          <a:prstGeom prst="roundRect">
            <a:avLst>
              <a:gd name="adj" fmla="val 2609"/>
            </a:avLst>
          </a:prstGeom>
          <a:solidFill>
            <a:srgbClr val="FFF1F0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7752F29-8155-413B-AA63-4709DEDF5EBF}"/>
              </a:ext>
            </a:extLst>
          </p:cNvPr>
          <p:cNvSpPr>
            <a:spLocks noGrp="1"/>
          </p:cNvSpPr>
          <p:nvPr/>
        </p:nvSpPr>
        <p:spPr>
          <a:xfrm>
            <a:off x="9429750" y="201930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950" b="1">
                <a:solidFill>
                  <a:srgbClr val="D95F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95F59"/>
                </a:solidFill>
                <a:latin typeface="Microsoft YaHei"/>
                <a:ea typeface="Microsoft YaHei"/>
                <a:cs typeface="Microsoft YaHei"/>
              </a:rPr>
              <a:t>因子熊市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0DB9ADF-6ED3-4A68-874F-234677449630}"/>
              </a:ext>
            </a:extLst>
          </p:cNvPr>
          <p:cNvSpPr>
            <a:spLocks noGrp="1"/>
          </p:cNvSpPr>
          <p:nvPr/>
        </p:nvSpPr>
        <p:spPr>
          <a:xfrm>
            <a:off x="9429750" y="2705100"/>
            <a:ext cx="1524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相对市场</a:t>
            </a:r>
          </a:p>
          <a:p>
            <a:pPr algn="ctr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更可能承受负主动收益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356E1CD-A151-43B2-BDFB-C84B2CC8434A}"/>
              </a:ext>
            </a:extLst>
          </p:cNvPr>
          <p:cNvSpPr>
            <a:spLocks noGrp="1"/>
          </p:cNvSpPr>
          <p:nvPr/>
        </p:nvSpPr>
        <p:spPr>
          <a:xfrm>
            <a:off x="6438900" y="5219700"/>
            <a:ext cx="4876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034"/>
          </a:bodyPr>
          <a:lstStyle/>
          <a:p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这是因子自身的牛熊，不等于整个股票市场的牛熊</a:t>
            </a:r>
            <a:r>
              <a:rPr sz="165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32104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2FA84240-8BAF-48FC-BFDE-B12DCE04DD34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81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SJM 输入约二十个可实时获得的特征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04581A3-4D00-4362-81B7-CDA5151D7058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23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422DDF-C1E5-494E-BE51-61A47E1084DF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来源：今日头条/新浪财经转载华安证券研究；Shu &amp; Mulvey, The Journal of Portfolio Management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75AF11-5F57-478C-882A-6671B9D02B68}"/>
              </a:ext>
            </a:extLst>
          </p:cNvPr>
          <p:cNvSpPr>
            <a:spLocks noGrp="1"/>
          </p:cNvSpPr>
          <p:nvPr/>
        </p:nvSpPr>
        <p:spPr>
          <a:xfrm>
            <a:off x="400050" y="1104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特征分两类：一类描述该因子的历史主动收益，一类描述更广泛的市场环境。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637C4E-7920-419C-ACEB-45F741862861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75C1DC-9C6E-4CA9-B6E6-6D7A1648E3A1}"/>
              </a:ext>
            </a:extLst>
          </p:cNvPr>
          <p:cNvSpPr>
            <a:spLocks noGrp="1"/>
          </p:cNvSpPr>
          <p:nvPr/>
        </p:nvSpPr>
        <p:spPr>
          <a:xfrm>
            <a:off x="1200150" y="1771650"/>
            <a:ext cx="4514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因子自身：滚动收益、波动、回撤、夏普类指标、近期相对强弱等，反映该因子的风险收益状态。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34D3898-0ABE-4A5D-8D78-2E0ADA4E2205}"/>
              </a:ext>
            </a:extLst>
          </p:cNvPr>
          <p:cNvSpPr>
            <a:spLocks noGrp="1"/>
          </p:cNvSpPr>
          <p:nvPr/>
        </p:nvSpPr>
        <p:spPr>
          <a:xfrm>
            <a:off x="762000" y="249555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ED6DCE-9613-4A00-9112-E88DA23353CB}"/>
              </a:ext>
            </a:extLst>
          </p:cNvPr>
          <p:cNvSpPr>
            <a:spLocks noGrp="1"/>
          </p:cNvSpPr>
          <p:nvPr/>
        </p:nvSpPr>
        <p:spPr>
          <a:xfrm>
            <a:off x="1200150" y="2476500"/>
            <a:ext cx="4514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市场环境：整体市场收益、波动、风险偏好或宏观/流动性代理变量，帮助区分同一因子在不同大环境下的状态。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6E173D-6F37-48E7-BE26-11CF2609183E}"/>
              </a:ext>
            </a:extLst>
          </p:cNvPr>
          <p:cNvSpPr>
            <a:spLocks noGrp="1"/>
          </p:cNvSpPr>
          <p:nvPr/>
        </p:nvSpPr>
        <p:spPr>
          <a:xfrm>
            <a:off x="762000" y="320040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02947CF-DFE6-444A-B838-CD3A0D23238B}"/>
              </a:ext>
            </a:extLst>
          </p:cNvPr>
          <p:cNvSpPr>
            <a:spLocks noGrp="1"/>
          </p:cNvSpPr>
          <p:nvPr/>
        </p:nvSpPr>
        <p:spPr>
          <a:xfrm>
            <a:off x="1200150" y="3181350"/>
            <a:ext cx="4514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标准化处理：模型在特征空间做聚类，避免单个量纲或极端噪声主导状态划分。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F952E25-1ABC-40BA-83EF-37B99526CA35}"/>
              </a:ext>
            </a:extLst>
          </p:cNvPr>
          <p:cNvSpPr>
            <a:spLocks noGrp="1"/>
          </p:cNvSpPr>
          <p:nvPr/>
        </p:nvSpPr>
        <p:spPr>
          <a:xfrm>
            <a:off x="762000" y="390525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7BDAA3F-7F37-4B1F-B923-CACE530D13A3}"/>
              </a:ext>
            </a:extLst>
          </p:cNvPr>
          <p:cNvSpPr>
            <a:spLocks noGrp="1"/>
          </p:cNvSpPr>
          <p:nvPr/>
        </p:nvSpPr>
        <p:spPr>
          <a:xfrm>
            <a:off x="1200150" y="3886200"/>
            <a:ext cx="4514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在线可用：文章强调这些特征在实时环境中相对容易获得，避免依赖未来数据。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BD5EEBE-736F-4995-BED6-C8E09B58AF63}"/>
              </a:ext>
            </a:extLst>
          </p:cNvPr>
          <p:cNvSpPr>
            <a:spLocks noGrp="1"/>
          </p:cNvSpPr>
          <p:nvPr/>
        </p:nvSpPr>
        <p:spPr>
          <a:xfrm>
            <a:off x="6524433" y="908262"/>
            <a:ext cx="4558831" cy="2996987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606EE05-EFCF-40B5-968E-5FD2D4E22395}"/>
              </a:ext>
            </a:extLst>
          </p:cNvPr>
          <p:cNvSpPr>
            <a:spLocks noGrp="1"/>
          </p:cNvSpPr>
          <p:nvPr/>
        </p:nvSpPr>
        <p:spPr>
          <a:xfrm>
            <a:off x="6524433" y="4705349"/>
            <a:ext cx="4686300" cy="1066800"/>
          </a:xfrm>
          <a:prstGeom prst="roundRect">
            <a:avLst>
              <a:gd name="adj" fmla="val 5357"/>
            </a:avLst>
          </a:prstGeom>
          <a:solidFill>
            <a:srgbClr val="F2F3F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7192B76-C7D8-43DE-85BB-BA308CBC1806}"/>
              </a:ext>
            </a:extLst>
          </p:cNvPr>
          <p:cNvSpPr>
            <a:spLocks noGrp="1"/>
          </p:cNvSpPr>
          <p:nvPr/>
        </p:nvSpPr>
        <p:spPr>
          <a:xfrm>
            <a:off x="6620962" y="490537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为什么要“稀疏</a:t>
            </a:r>
            <a:r>
              <a:rPr sz="18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”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CCF8F2-E497-4F60-95AC-F7A3C68E3FE0}"/>
              </a:ext>
            </a:extLst>
          </p:cNvPr>
          <p:cNvSpPr>
            <a:spLocks noGrp="1"/>
          </p:cNvSpPr>
          <p:nvPr/>
        </p:nvSpPr>
        <p:spPr>
          <a:xfrm>
            <a:off x="6620962" y="5353050"/>
            <a:ext cx="3981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963" lnSpcReduction="10000"/>
          </a:bodyPr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高维特征中既有信息特征，也有无关噪声；SJM</a:t>
            </a:r>
            <a:r>
              <a:rPr sz="135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5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会给特征分配权重，弱化无效变量</a:t>
            </a:r>
            <a:r>
              <a:rPr sz="135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15B1F9CB-8620-4D15-7A51-39CABB2DB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428" y="930696"/>
            <a:ext cx="4428294" cy="285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18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4D4CF7F-6714-4CFE-BC54-3D8A94168A53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81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稀疏跳跃模型用“聚类 + 转换惩罚”得到稳定状态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B9633B0-CE9C-4EC6-9596-511F4F0A3F59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23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33A978D-28BD-42A9-B9E3-6948288AFD74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来源：今日头条/新浪财经转载华安证券研究；Shu &amp; Mulvey, The Journal of Portfolio Management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0BF1337-076D-4948-B276-D242019B623F}"/>
              </a:ext>
            </a:extLst>
          </p:cNvPr>
          <p:cNvSpPr>
            <a:spLocks noGrp="1"/>
          </p:cNvSpPr>
          <p:nvPr/>
        </p:nvSpPr>
        <p:spPr>
          <a:xfrm>
            <a:off x="361949" y="4436155"/>
            <a:ext cx="3295650" cy="1236436"/>
          </a:xfrm>
          <a:prstGeom prst="roundRect">
            <a:avLst>
              <a:gd name="adj" fmla="val 1935"/>
            </a:avLst>
          </a:prstGeom>
          <a:solidFill>
            <a:srgbClr val="F2F3F5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A7A1CA9-B23C-4C1F-8FA1-FDB6B66D1969}"/>
              </a:ext>
            </a:extLst>
          </p:cNvPr>
          <p:cNvSpPr>
            <a:spLocks noGrp="1"/>
          </p:cNvSpPr>
          <p:nvPr/>
        </p:nvSpPr>
        <p:spPr>
          <a:xfrm>
            <a:off x="647699" y="4521427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聚类目标</a:t>
            </a:r>
            <a:endParaRPr sz="180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C0E4C3-CA82-49C5-A8AA-EBC7F858528D}"/>
              </a:ext>
            </a:extLst>
          </p:cNvPr>
          <p:cNvSpPr>
            <a:spLocks noGrp="1"/>
          </p:cNvSpPr>
          <p:nvPr/>
        </p:nvSpPr>
        <p:spPr>
          <a:xfrm>
            <a:off x="647699" y="4892448"/>
            <a:ext cx="2476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把每个日期的特征向量分到两个状态中心：</a:t>
            </a:r>
          </a:p>
          <a:p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状态 1 / 状态 2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EBB5039-7491-42D3-85D4-35B1C0C71E40}"/>
              </a:ext>
            </a:extLst>
          </p:cNvPr>
          <p:cNvSpPr>
            <a:spLocks noGrp="1"/>
          </p:cNvSpPr>
          <p:nvPr/>
        </p:nvSpPr>
        <p:spPr>
          <a:xfrm>
            <a:off x="4229099" y="4436155"/>
            <a:ext cx="3295650" cy="1236436"/>
          </a:xfrm>
          <a:prstGeom prst="roundRect">
            <a:avLst>
              <a:gd name="adj" fmla="val 1935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AE50858-0A08-4182-8312-3CFC8C972D04}"/>
              </a:ext>
            </a:extLst>
          </p:cNvPr>
          <p:cNvSpPr>
            <a:spLocks noGrp="1"/>
          </p:cNvSpPr>
          <p:nvPr/>
        </p:nvSpPr>
        <p:spPr>
          <a:xfrm>
            <a:off x="4514849" y="4521427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 err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跳跃惩罚</a:t>
            </a:r>
            <a:endParaRPr sz="1800" b="1" dirty="0">
              <a:solidFill>
                <a:srgbClr val="3D8D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08ADB73-BB66-4BDD-90BE-DE6E17705B15}"/>
              </a:ext>
            </a:extLst>
          </p:cNvPr>
          <p:cNvSpPr>
            <a:spLocks noGrp="1"/>
          </p:cNvSpPr>
          <p:nvPr/>
        </p:nvSpPr>
        <p:spPr>
          <a:xfrm>
            <a:off x="4514849" y="4892448"/>
            <a:ext cx="2476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若今天和昨天状态不同，要付出惩罚项；惩罚越大，状态越少来回切换。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52BB62C-FE9A-4CBC-9EEB-20BB5FA3FCB3}"/>
              </a:ext>
            </a:extLst>
          </p:cNvPr>
          <p:cNvSpPr>
            <a:spLocks noGrp="1"/>
          </p:cNvSpPr>
          <p:nvPr/>
        </p:nvSpPr>
        <p:spPr>
          <a:xfrm>
            <a:off x="8096249" y="4436155"/>
            <a:ext cx="3295650" cy="1236436"/>
          </a:xfrm>
          <a:prstGeom prst="roundRect">
            <a:avLst>
              <a:gd name="adj" fmla="val 1935"/>
            </a:avLst>
          </a:prstGeom>
          <a:solidFill>
            <a:srgbClr val="F5FAF1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1A9AF82-443B-4864-91CC-261282F54693}"/>
              </a:ext>
            </a:extLst>
          </p:cNvPr>
          <p:cNvSpPr>
            <a:spLocks noGrp="1"/>
          </p:cNvSpPr>
          <p:nvPr/>
        </p:nvSpPr>
        <p:spPr>
          <a:xfrm>
            <a:off x="8381999" y="4521427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2F9E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 err="1">
                <a:solidFill>
                  <a:srgbClr val="2F9E74"/>
                </a:solidFill>
                <a:latin typeface="Microsoft YaHei"/>
                <a:ea typeface="Microsoft YaHei"/>
                <a:cs typeface="Microsoft YaHei"/>
              </a:rPr>
              <a:t>特征稀疏</a:t>
            </a:r>
            <a:endParaRPr sz="1800" b="1" dirty="0">
              <a:solidFill>
                <a:srgbClr val="2F9E7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C1B016-0931-4EC3-B76E-B216075D1037}"/>
              </a:ext>
            </a:extLst>
          </p:cNvPr>
          <p:cNvSpPr>
            <a:spLocks noGrp="1"/>
          </p:cNvSpPr>
          <p:nvPr/>
        </p:nvSpPr>
        <p:spPr>
          <a:xfrm>
            <a:off x="8381999" y="4892448"/>
            <a:ext cx="2476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模型学习每个特征的权重，保留有助于分群的信号，降低噪声特征影响。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4A71E2C-0AA0-4CCD-85DF-6BF01A83145D}"/>
              </a:ext>
            </a:extLst>
          </p:cNvPr>
          <p:cNvSpPr>
            <a:spLocks noGrp="1"/>
          </p:cNvSpPr>
          <p:nvPr/>
        </p:nvSpPr>
        <p:spPr>
          <a:xfrm>
            <a:off x="1352550" y="5915025"/>
            <a:ext cx="9505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直观公式：最小化“到状态中心的距离</a:t>
            </a:r>
            <a:r>
              <a:rPr sz="165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” + “</a:t>
            </a:r>
            <a:r>
              <a:rPr sz="16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状态切换次数惩罚</a:t>
            </a:r>
            <a:r>
              <a:rPr sz="165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” + “</a:t>
            </a:r>
            <a:r>
              <a:rPr sz="16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特征选择约束</a:t>
            </a:r>
            <a:r>
              <a:rPr sz="165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”。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1DCE6A82-E2CD-23F1-C197-8CBF6AC3B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859" y="1027513"/>
            <a:ext cx="6744131" cy="321338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C6DA45D0-0941-2E55-A416-CD3CA293E9BC}"/>
              </a:ext>
            </a:extLst>
          </p:cNvPr>
          <p:cNvSpPr>
            <a:spLocks noGrp="1"/>
          </p:cNvSpPr>
          <p:nvPr/>
        </p:nvSpPr>
        <p:spPr>
          <a:xfrm>
            <a:off x="1123950" y="96656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目标</a:t>
            </a:r>
            <a:r>
              <a:rPr lang="zh-CN" altLang="en-US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函数：</a:t>
            </a:r>
            <a:endParaRPr sz="180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94474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37FD23F-1C92-C0F8-C30B-A8E5FADE5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71" y="782083"/>
            <a:ext cx="5148264" cy="585968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D6F67A1-0F9F-AD6B-62D9-61ED6E771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177" y="1597024"/>
            <a:ext cx="6113852" cy="392520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40F4610-0058-7B20-262A-919B824FD4BD}"/>
              </a:ext>
            </a:extLst>
          </p:cNvPr>
          <p:cNvSpPr txBox="1"/>
          <p:nvPr/>
        </p:nvSpPr>
        <p:spPr>
          <a:xfrm>
            <a:off x="265971" y="216228"/>
            <a:ext cx="4204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识别结果</a:t>
            </a:r>
          </a:p>
        </p:txBody>
      </p:sp>
    </p:spTree>
    <p:extLst>
      <p:ext uri="{BB962C8B-B14F-4D97-AF65-F5344CB8AC3E}">
        <p14:creationId xmlns:p14="http://schemas.microsoft.com/office/powerpoint/2010/main" val="1619260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02D5B83C-F390-4942-84EF-8EE1F6163E11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81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在线应用时，模型每月重估，参数每半年滚动验证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10F7B62-E070-4537-A5AD-D21FA546FEF1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23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6510419-2C71-4113-B92D-84C49D7608A5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来源：今日头条/新浪财经转载华安证券研究；Shu &amp; Mulvey, The Journal of Portfolio Management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57BAC05-CA85-4CC4-9503-5DA5B25B353F}"/>
              </a:ext>
            </a:extLst>
          </p:cNvPr>
          <p:cNvSpPr>
            <a:spLocks noGrp="1"/>
          </p:cNvSpPr>
          <p:nvPr/>
        </p:nvSpPr>
        <p:spPr>
          <a:xfrm>
            <a:off x="400050" y="1104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为了避免过拟合，超参数由历史验证窗口选择，而不是在测试期事后挑选。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A3A18F8-7E6D-469B-8AE3-DC5779941BFF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2286000" cy="1428750"/>
          </a:xfrm>
          <a:prstGeom prst="roundRect">
            <a:avLst>
              <a:gd name="adj" fmla="val 4000"/>
            </a:avLst>
          </a:prstGeom>
          <a:solidFill>
            <a:srgbClr val="F2F3F5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2FC1EA-21C6-4FFD-A4F0-2289D61A6E50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扩展训练窗口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6E55FF4-38C1-4DEA-843F-5BB809E55BCB}"/>
              </a:ext>
            </a:extLst>
          </p:cNvPr>
          <p:cNvSpPr>
            <a:spLocks noGrp="1"/>
          </p:cNvSpPr>
          <p:nvPr/>
        </p:nvSpPr>
        <p:spPr>
          <a:xfrm>
            <a:off x="914400" y="2857500"/>
            <a:ext cx="1866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最短 8 年、最长 12 年</a:t>
            </a:r>
          </a:p>
          <a:p>
            <a:pPr algn="ctr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用于拟合 SJM 状态中心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2D21404-6837-4E9C-8AA4-75F9B7547428}"/>
              </a:ext>
            </a:extLst>
          </p:cNvPr>
          <p:cNvSpPr>
            <a:spLocks noGrp="1"/>
          </p:cNvSpPr>
          <p:nvPr/>
        </p:nvSpPr>
        <p:spPr>
          <a:xfrm>
            <a:off x="3086100" y="2552700"/>
            <a:ext cx="28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FCDBE52-924F-4295-BDA8-34598FEBB7B2}"/>
              </a:ext>
            </a:extLst>
          </p:cNvPr>
          <p:cNvSpPr>
            <a:spLocks noGrp="1"/>
          </p:cNvSpPr>
          <p:nvPr/>
        </p:nvSpPr>
        <p:spPr>
          <a:xfrm>
            <a:off x="3486150" y="2095500"/>
            <a:ext cx="2286000" cy="1428750"/>
          </a:xfrm>
          <a:prstGeom prst="roundRect">
            <a:avLst>
              <a:gd name="adj" fmla="val 4000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2B90D3D-7E15-4151-A6BA-A0ACC2145742}"/>
              </a:ext>
            </a:extLst>
          </p:cNvPr>
          <p:cNvSpPr>
            <a:spLocks noGrp="1"/>
          </p:cNvSpPr>
          <p:nvPr/>
        </p:nvSpPr>
        <p:spPr>
          <a:xfrm>
            <a:off x="3695700" y="23431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验证窗口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5FBBFB9-EE40-496D-86E1-EF3CCFF9AB62}"/>
              </a:ext>
            </a:extLst>
          </p:cNvPr>
          <p:cNvSpPr>
            <a:spLocks noGrp="1"/>
          </p:cNvSpPr>
          <p:nvPr/>
        </p:nvSpPr>
        <p:spPr>
          <a:xfrm>
            <a:off x="3695700" y="2857500"/>
            <a:ext cx="1866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747" lnSpcReduction="10000"/>
          </a:bodyPr>
          <a:lstStyle/>
          <a:p>
            <a:pPr algn="ctr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 </a:t>
            </a:r>
            <a:r>
              <a:rPr sz="135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年滚动验证</a:t>
            </a:r>
            <a:endParaRPr sz="1350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挑选多空策略夏普最高的超参数</a:t>
            </a:r>
            <a:endParaRPr sz="1350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857028F-EC5D-4602-B0C2-4C9D76E8EB0C}"/>
              </a:ext>
            </a:extLst>
          </p:cNvPr>
          <p:cNvSpPr>
            <a:spLocks noGrp="1"/>
          </p:cNvSpPr>
          <p:nvPr/>
        </p:nvSpPr>
        <p:spPr>
          <a:xfrm>
            <a:off x="5867400" y="2552700"/>
            <a:ext cx="28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B5B10D8-8B83-42D1-8928-55A4CD34F7C1}"/>
              </a:ext>
            </a:extLst>
          </p:cNvPr>
          <p:cNvSpPr>
            <a:spLocks noGrp="1"/>
          </p:cNvSpPr>
          <p:nvPr/>
        </p:nvSpPr>
        <p:spPr>
          <a:xfrm>
            <a:off x="6267450" y="2095500"/>
            <a:ext cx="2286000" cy="1428750"/>
          </a:xfrm>
          <a:prstGeom prst="roundRect">
            <a:avLst>
              <a:gd name="adj" fmla="val 4000"/>
            </a:avLst>
          </a:prstGeom>
          <a:solidFill>
            <a:srgbClr val="F2F3F5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FF03D50-2A6C-48B5-BE98-503EA8B00643}"/>
              </a:ext>
            </a:extLst>
          </p:cNvPr>
          <p:cNvSpPr>
            <a:spLocks noGrp="1"/>
          </p:cNvSpPr>
          <p:nvPr/>
        </p:nvSpPr>
        <p:spPr>
          <a:xfrm>
            <a:off x="6477000" y="23431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应用窗口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EB4AE03-577D-41A7-9ED8-8068CE2A7FAF}"/>
              </a:ext>
            </a:extLst>
          </p:cNvPr>
          <p:cNvSpPr>
            <a:spLocks noGrp="1"/>
          </p:cNvSpPr>
          <p:nvPr/>
        </p:nvSpPr>
        <p:spPr>
          <a:xfrm>
            <a:off x="6477000" y="2857500"/>
            <a:ext cx="1866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参数用于接下来</a:t>
            </a:r>
            <a:r>
              <a:rPr sz="135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6 </a:t>
            </a:r>
            <a:r>
              <a:rPr sz="135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个月</a:t>
            </a:r>
            <a:endParaRPr sz="1350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期间进行在线状态推断</a:t>
            </a:r>
            <a:endParaRPr sz="1350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395380B-0FD7-4857-A9C4-39FC417A4B2C}"/>
              </a:ext>
            </a:extLst>
          </p:cNvPr>
          <p:cNvSpPr>
            <a:spLocks noGrp="1"/>
          </p:cNvSpPr>
          <p:nvPr/>
        </p:nvSpPr>
        <p:spPr>
          <a:xfrm>
            <a:off x="8648700" y="2552700"/>
            <a:ext cx="28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8729A11-C4A2-4312-AA07-4C1D3540FA74}"/>
              </a:ext>
            </a:extLst>
          </p:cNvPr>
          <p:cNvSpPr>
            <a:spLocks noGrp="1"/>
          </p:cNvSpPr>
          <p:nvPr/>
        </p:nvSpPr>
        <p:spPr>
          <a:xfrm>
            <a:off x="9048750" y="2095500"/>
            <a:ext cx="2286000" cy="1428750"/>
          </a:xfrm>
          <a:prstGeom prst="roundRect">
            <a:avLst>
              <a:gd name="adj" fmla="val 4000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31442E4-796A-48C0-90BD-A29B45F9B9E8}"/>
              </a:ext>
            </a:extLst>
          </p:cNvPr>
          <p:cNvSpPr>
            <a:spLocks noGrp="1"/>
          </p:cNvSpPr>
          <p:nvPr/>
        </p:nvSpPr>
        <p:spPr>
          <a:xfrm>
            <a:off x="9258300" y="23431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实盘延迟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01D12F7-45F6-42E4-8F95-487215375591}"/>
              </a:ext>
            </a:extLst>
          </p:cNvPr>
          <p:cNvSpPr>
            <a:spLocks noGrp="1"/>
          </p:cNvSpPr>
          <p:nvPr/>
        </p:nvSpPr>
        <p:spPr>
          <a:xfrm>
            <a:off x="9258300" y="2857500"/>
            <a:ext cx="1866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在线推断滞后 1 天</a:t>
            </a:r>
          </a:p>
          <a:p>
            <a:pPr algn="ctr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并考虑交易成本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386CBDF-F284-490C-9A5F-33A436CAEC22}"/>
              </a:ext>
            </a:extLst>
          </p:cNvPr>
          <p:cNvSpPr>
            <a:spLocks noGrp="1"/>
          </p:cNvSpPr>
          <p:nvPr/>
        </p:nvSpPr>
        <p:spPr>
          <a:xfrm>
            <a:off x="1828800" y="4514850"/>
            <a:ext cx="838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测试期始于 2007 年，覆盖 2007-2024 年样本外表现。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665CB5-E5EA-4743-BE71-2560ACD68AD4}"/>
              </a:ext>
            </a:extLst>
          </p:cNvPr>
          <p:cNvSpPr>
            <a:spLocks noGrp="1"/>
          </p:cNvSpPr>
          <p:nvPr/>
        </p:nvSpPr>
        <p:spPr>
          <a:xfrm>
            <a:off x="1524000" y="5086350"/>
            <a:ext cx="904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单因子多空策略只用于评估状态推断质量；最终交易组合仍是七指数只做多配置。</a:t>
            </a:r>
          </a:p>
        </p:txBody>
      </p:sp>
    </p:spTree>
    <p:extLst>
      <p:ext uri="{BB962C8B-B14F-4D97-AF65-F5344CB8AC3E}">
        <p14:creationId xmlns:p14="http://schemas.microsoft.com/office/powerpoint/2010/main" val="1861666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38A1ECCA-B391-4CE4-9D56-6FCF2A96BBD4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81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状态先转成单因子相对观点，再进入组合模型</a:t>
            </a:r>
            <a:endParaRPr sz="285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DD42E1-DECA-4753-98DA-F3F35E6A2707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23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3251F2E-3E6F-4182-81DA-E4A258C14AE3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来源：今日头条/新浪财经转载华安证券研究；Shu &amp; Mulvey, The Journal of Portfolio Management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6AACABB-5CF9-40C0-AAE8-20B234144E8D}"/>
              </a:ext>
            </a:extLst>
          </p:cNvPr>
          <p:cNvSpPr>
            <a:spLocks noGrp="1"/>
          </p:cNvSpPr>
          <p:nvPr/>
        </p:nvSpPr>
        <p:spPr>
          <a:xfrm>
            <a:off x="400050" y="1104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牛市状态对应看多该因子相对市场；熊市状态对应看空该因子相对市场。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40178B7-8CD0-4148-8DB9-2EDA6B1DC3A4}"/>
              </a:ext>
            </a:extLst>
          </p:cNvPr>
          <p:cNvSpPr>
            <a:spLocks noGrp="1"/>
          </p:cNvSpPr>
          <p:nvPr/>
        </p:nvSpPr>
        <p:spPr>
          <a:xfrm>
            <a:off x="685800" y="1704975"/>
            <a:ext cx="4762500" cy="3314700"/>
          </a:xfrm>
          <a:prstGeom prst="roundRect">
            <a:avLst>
              <a:gd name="adj" fmla="val 1724"/>
            </a:avLst>
          </a:prstGeom>
          <a:solidFill>
            <a:srgbClr val="F2F3F5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06D09F1-770D-484F-94A8-9226FFB795D2}"/>
              </a:ext>
            </a:extLst>
          </p:cNvPr>
          <p:cNvSpPr>
            <a:spLocks noGrp="1"/>
          </p:cNvSpPr>
          <p:nvPr/>
        </p:nvSpPr>
        <p:spPr>
          <a:xfrm>
            <a:off x="876300" y="19431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假设性单因子多空策略</a:t>
            </a:r>
            <a:endParaRPr sz="195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D68709B-E80C-4352-9BA3-17B92B036A07}"/>
              </a:ext>
            </a:extLst>
          </p:cNvPr>
          <p:cNvSpPr>
            <a:spLocks noGrp="1"/>
          </p:cNvSpPr>
          <p:nvPr/>
        </p:nvSpPr>
        <p:spPr>
          <a:xfrm>
            <a:off x="900846" y="3219450"/>
            <a:ext cx="4547453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067"/>
          </a:bodyPr>
          <a:lstStyle/>
          <a:p>
            <a:pPr algn="l"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因子牛市</a:t>
            </a:r>
            <a:r>
              <a:rPr sz="1725" b="1" dirty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：+100% </a:t>
            </a:r>
            <a:r>
              <a:rPr lang="zh-CN" altLang="en-US" sz="1725" b="1" dirty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做多</a:t>
            </a:r>
            <a:r>
              <a:rPr sz="1725" b="1" dirty="0" err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因子指数</a:t>
            </a:r>
            <a:r>
              <a:rPr sz="1725" b="1" dirty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，-100% </a:t>
            </a:r>
            <a:r>
              <a:rPr lang="zh-CN" altLang="en-US" sz="1725" b="1" dirty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做空</a:t>
            </a:r>
            <a:r>
              <a:rPr sz="1725" b="1" dirty="0" err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市场</a:t>
            </a:r>
            <a:endParaRPr sz="1725" b="1" dirty="0">
              <a:solidFill>
                <a:srgbClr val="3D8D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因子熊市</a:t>
            </a:r>
            <a:r>
              <a:rPr sz="1725" b="1" dirty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：-100% </a:t>
            </a:r>
            <a:r>
              <a:rPr lang="zh-CN" altLang="en-US" sz="1725" b="1" dirty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做空</a:t>
            </a:r>
            <a:r>
              <a:rPr sz="1725" b="1" dirty="0" err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因子指数</a:t>
            </a:r>
            <a:r>
              <a:rPr sz="1725" b="1" dirty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，+100% </a:t>
            </a:r>
            <a:r>
              <a:rPr lang="zh-CN" altLang="en-US" sz="1725" b="1" dirty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做多</a:t>
            </a:r>
            <a:r>
              <a:rPr sz="1725" b="1" dirty="0" err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市场</a:t>
            </a:r>
            <a:endParaRPr sz="1725" b="1" dirty="0">
              <a:solidFill>
                <a:srgbClr val="3D8D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E76E833-BEEF-4B18-80BD-63FCB66AFC08}"/>
              </a:ext>
            </a:extLst>
          </p:cNvPr>
          <p:cNvSpPr>
            <a:spLocks noGrp="1"/>
          </p:cNvSpPr>
          <p:nvPr/>
        </p:nvSpPr>
        <p:spPr>
          <a:xfrm>
            <a:off x="876300" y="3971925"/>
            <a:ext cx="3733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用途不是实盘交易，而是用夏普比率评价状态识别质量，并调</a:t>
            </a:r>
            <a:r>
              <a:rPr lang="zh-CN" altLang="en-US" sz="15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优化</a:t>
            </a:r>
            <a:r>
              <a:rPr sz="15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SJM </a:t>
            </a:r>
            <a:r>
              <a:rPr sz="15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超参数</a:t>
            </a:r>
            <a:r>
              <a:rPr sz="15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9E85EE5-ECEB-4EC7-8913-1E6B803C523D}"/>
              </a:ext>
            </a:extLst>
          </p:cNvPr>
          <p:cNvSpPr>
            <a:spLocks noGrp="1"/>
          </p:cNvSpPr>
          <p:nvPr/>
        </p:nvSpPr>
        <p:spPr>
          <a:xfrm>
            <a:off x="6553200" y="1676400"/>
            <a:ext cx="4762500" cy="3314700"/>
          </a:xfrm>
          <a:prstGeom prst="roundRect">
            <a:avLst>
              <a:gd name="adj" fmla="val 1724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43B441-5866-42CB-A0D1-44BC04392250}"/>
              </a:ext>
            </a:extLst>
          </p:cNvPr>
          <p:cNvSpPr>
            <a:spLocks noGrp="1"/>
          </p:cNvSpPr>
          <p:nvPr/>
        </p:nvSpPr>
        <p:spPr>
          <a:xfrm>
            <a:off x="6896100" y="20193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进入 BL 的观点组合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4F38F04-A461-401F-B7A7-590D305AE5D9}"/>
              </a:ext>
            </a:extLst>
          </p:cNvPr>
          <p:cNvSpPr>
            <a:spLocks noGrp="1"/>
          </p:cNvSpPr>
          <p:nvPr/>
        </p:nvSpPr>
        <p:spPr>
          <a:xfrm>
            <a:off x="6896100" y="2781300"/>
            <a:ext cx="3429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每个观点都是：</a:t>
            </a:r>
          </a:p>
          <a:p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该因子相对市场的预期主动收益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CFFFB6-E225-4E7D-9142-A6710D1CCE32}"/>
              </a:ext>
            </a:extLst>
          </p:cNvPr>
          <p:cNvSpPr>
            <a:spLocks noGrp="1"/>
          </p:cNvSpPr>
          <p:nvPr/>
        </p:nvSpPr>
        <p:spPr>
          <a:xfrm>
            <a:off x="6896100" y="3981450"/>
            <a:ext cx="3733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762"/>
          </a:bodyPr>
          <a:lstStyle/>
          <a:p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六个因子形成六个相对观点，随后由 Black-Litterman 统一处理相关性、风险和约束。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034D5FD-01E7-4922-BF0B-9EDE68F3159C}"/>
              </a:ext>
            </a:extLst>
          </p:cNvPr>
          <p:cNvSpPr>
            <a:spLocks noGrp="1"/>
          </p:cNvSpPr>
          <p:nvPr/>
        </p:nvSpPr>
        <p:spPr>
          <a:xfrm>
            <a:off x="1771650" y="5572125"/>
            <a:ext cx="8629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低相关的单因子状态信号，才适合在 BL 框架中被组合起来。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EF9CF75-6E20-2C95-4A15-81C17D616B39}"/>
              </a:ext>
            </a:extLst>
          </p:cNvPr>
          <p:cNvSpPr txBox="1"/>
          <p:nvPr/>
        </p:nvSpPr>
        <p:spPr>
          <a:xfrm>
            <a:off x="827203" y="2519690"/>
            <a:ext cx="35729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因子牛市：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当预期年化收益率超过5%时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因子熊市：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当预期年化收益率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低于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5%时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6557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F68F14B-1A8C-9610-C593-964DFD781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15" y="1002393"/>
            <a:ext cx="5140594" cy="454932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991E58D-90E1-F2FC-62B9-81CE84558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970" y="1002392"/>
            <a:ext cx="5676997" cy="454932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F8A50DF-6168-0CD0-7E17-8846247918EF}"/>
              </a:ext>
            </a:extLst>
          </p:cNvPr>
          <p:cNvSpPr>
            <a:spLocks noGrp="1"/>
          </p:cNvSpPr>
          <p:nvPr/>
        </p:nvSpPr>
        <p:spPr>
          <a:xfrm>
            <a:off x="105715" y="335643"/>
            <a:ext cx="981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2850" b="1" dirty="0"/>
              <a:t>利用单因子多空策略进行超参数优化后，SJM状态推断结果</a:t>
            </a:r>
            <a:endParaRPr sz="285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02761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6B2C3522-51CC-4F45-A467-A847BD569EFB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81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Black-</a:t>
            </a:r>
            <a:r>
              <a:rPr sz="28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Litterman</a:t>
            </a:r>
            <a:r>
              <a:rPr sz="285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8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负责把六个观点变成一组可执行权重</a:t>
            </a:r>
            <a:endParaRPr sz="285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0576AB-EBDB-49FF-AAF5-B51D353D3AB1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23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4DDE2A3-B10C-4B69-AC71-1B0123348A8D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来源：今日头条/新浪财经转载华安证券研究；Shu &amp; Mulvey, The Journal of Portfolio Management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5B344B-DC2B-47A7-AB00-6EE3F3639669}"/>
              </a:ext>
            </a:extLst>
          </p:cNvPr>
          <p:cNvSpPr>
            <a:spLocks noGrp="1"/>
          </p:cNvSpPr>
          <p:nvPr/>
        </p:nvSpPr>
        <p:spPr>
          <a:xfrm>
            <a:off x="400050" y="1104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它把“基准先验”和“状态观点”合成后验收益，再交给均值-方差优化。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9F5486A-DFD9-4CBF-8C71-25FB05095242}"/>
              </a:ext>
            </a:extLst>
          </p:cNvPr>
          <p:cNvSpPr>
            <a:spLocks noGrp="1"/>
          </p:cNvSpPr>
          <p:nvPr/>
        </p:nvSpPr>
        <p:spPr>
          <a:xfrm>
            <a:off x="666750" y="2076450"/>
            <a:ext cx="1752600" cy="552450"/>
          </a:xfrm>
          <a:prstGeom prst="roundRect">
            <a:avLst>
              <a:gd name="adj" fmla="val 3448"/>
            </a:avLst>
          </a:prstGeom>
          <a:solidFill>
            <a:srgbClr val="F2F3F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89D2FE-29DF-4933-B139-CAF4A8927B62}"/>
              </a:ext>
            </a:extLst>
          </p:cNvPr>
          <p:cNvSpPr>
            <a:spLocks noGrp="1"/>
          </p:cNvSpPr>
          <p:nvPr/>
        </p:nvSpPr>
        <p:spPr>
          <a:xfrm>
            <a:off x="800100" y="2190750"/>
            <a:ext cx="1485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6204" lnSpcReduction="20000"/>
          </a:bodyPr>
          <a:lstStyle/>
          <a:p>
            <a:pPr algn="ctr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等权基准</a:t>
            </a:r>
          </a:p>
          <a:p>
            <a:pPr algn="ctr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先验收益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8E38D0-67D1-4562-AFB4-CCE123C30FD7}"/>
              </a:ext>
            </a:extLst>
          </p:cNvPr>
          <p:cNvSpPr>
            <a:spLocks noGrp="1"/>
          </p:cNvSpPr>
          <p:nvPr/>
        </p:nvSpPr>
        <p:spPr>
          <a:xfrm>
            <a:off x="2533650" y="2171700"/>
            <a:ext cx="304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25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4345FEB-2FC7-4120-8562-4AA5DA5A3B13}"/>
              </a:ext>
            </a:extLst>
          </p:cNvPr>
          <p:cNvSpPr>
            <a:spLocks noGrp="1"/>
          </p:cNvSpPr>
          <p:nvPr/>
        </p:nvSpPr>
        <p:spPr>
          <a:xfrm>
            <a:off x="3048000" y="2076450"/>
            <a:ext cx="1752600" cy="552450"/>
          </a:xfrm>
          <a:prstGeom prst="roundRect">
            <a:avLst>
              <a:gd name="adj" fmla="val 3448"/>
            </a:avLst>
          </a:prstGeom>
          <a:solidFill>
            <a:srgbClr val="EAF5F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BCB6FE7-7687-4A8F-BFDF-F6415EFE6F93}"/>
              </a:ext>
            </a:extLst>
          </p:cNvPr>
          <p:cNvSpPr>
            <a:spLocks noGrp="1"/>
          </p:cNvSpPr>
          <p:nvPr/>
        </p:nvSpPr>
        <p:spPr>
          <a:xfrm>
            <a:off x="3181350" y="2190750"/>
            <a:ext cx="1485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6204" lnSpcReduction="20000"/>
          </a:bodyPr>
          <a:lstStyle/>
          <a:p>
            <a:pPr algn="ctr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六个相对</a:t>
            </a:r>
          </a:p>
          <a:p>
            <a:pPr algn="ctr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因子观点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4C759B8-E238-4C07-8D7A-341E12500F7D}"/>
              </a:ext>
            </a:extLst>
          </p:cNvPr>
          <p:cNvSpPr>
            <a:spLocks noGrp="1"/>
          </p:cNvSpPr>
          <p:nvPr/>
        </p:nvSpPr>
        <p:spPr>
          <a:xfrm>
            <a:off x="4914900" y="2171700"/>
            <a:ext cx="304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25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DEC9166-DB94-4227-8B1D-7D30235E0C08}"/>
              </a:ext>
            </a:extLst>
          </p:cNvPr>
          <p:cNvSpPr>
            <a:spLocks noGrp="1"/>
          </p:cNvSpPr>
          <p:nvPr/>
        </p:nvSpPr>
        <p:spPr>
          <a:xfrm>
            <a:off x="5429250" y="2076450"/>
            <a:ext cx="1752600" cy="552450"/>
          </a:xfrm>
          <a:prstGeom prst="roundRect">
            <a:avLst>
              <a:gd name="adj" fmla="val 3448"/>
            </a:avLst>
          </a:prstGeom>
          <a:solidFill>
            <a:srgbClr val="F5FAF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392358C-B3F9-4E0C-B639-56144E0527C2}"/>
              </a:ext>
            </a:extLst>
          </p:cNvPr>
          <p:cNvSpPr>
            <a:spLocks noGrp="1"/>
          </p:cNvSpPr>
          <p:nvPr/>
        </p:nvSpPr>
        <p:spPr>
          <a:xfrm>
            <a:off x="5562600" y="2190750"/>
            <a:ext cx="1485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6204" lnSpcReduction="20000"/>
          </a:bodyPr>
          <a:lstStyle/>
          <a:p>
            <a:pPr algn="ctr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BL 后验</a:t>
            </a:r>
          </a:p>
          <a:p>
            <a:pPr algn="ctr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预期收益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172300A-ABFB-490D-9347-8320B4E7620E}"/>
              </a:ext>
            </a:extLst>
          </p:cNvPr>
          <p:cNvSpPr>
            <a:spLocks noGrp="1"/>
          </p:cNvSpPr>
          <p:nvPr/>
        </p:nvSpPr>
        <p:spPr>
          <a:xfrm>
            <a:off x="7296150" y="2171700"/>
            <a:ext cx="304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25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EA423DE-2ACE-4699-8399-AE80A0539F98}"/>
              </a:ext>
            </a:extLst>
          </p:cNvPr>
          <p:cNvSpPr>
            <a:spLocks noGrp="1"/>
          </p:cNvSpPr>
          <p:nvPr/>
        </p:nvSpPr>
        <p:spPr>
          <a:xfrm>
            <a:off x="7810500" y="2076450"/>
            <a:ext cx="1752600" cy="552450"/>
          </a:xfrm>
          <a:prstGeom prst="roundRect">
            <a:avLst>
              <a:gd name="adj" fmla="val 3448"/>
            </a:avLst>
          </a:prstGeom>
          <a:solidFill>
            <a:srgbClr val="FFF7E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5F693FB-86CD-4D28-8914-E7F63006150F}"/>
              </a:ext>
            </a:extLst>
          </p:cNvPr>
          <p:cNvSpPr>
            <a:spLocks noGrp="1"/>
          </p:cNvSpPr>
          <p:nvPr/>
        </p:nvSpPr>
        <p:spPr>
          <a:xfrm>
            <a:off x="7943850" y="2190750"/>
            <a:ext cx="1485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6204" lnSpcReduction="20000"/>
          </a:bodyPr>
          <a:lstStyle/>
          <a:p>
            <a:pPr algn="ctr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均值-方差</a:t>
            </a:r>
          </a:p>
          <a:p>
            <a:pPr algn="ctr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二次优化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5015874-3767-4FEF-B766-D3AAA426DC9A}"/>
              </a:ext>
            </a:extLst>
          </p:cNvPr>
          <p:cNvSpPr>
            <a:spLocks noGrp="1"/>
          </p:cNvSpPr>
          <p:nvPr/>
        </p:nvSpPr>
        <p:spPr>
          <a:xfrm>
            <a:off x="9677400" y="2171700"/>
            <a:ext cx="304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25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8BCC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81C7D4D-69A4-47F3-BADF-98BD4EF42841}"/>
              </a:ext>
            </a:extLst>
          </p:cNvPr>
          <p:cNvSpPr>
            <a:spLocks noGrp="1"/>
          </p:cNvSpPr>
          <p:nvPr/>
        </p:nvSpPr>
        <p:spPr>
          <a:xfrm>
            <a:off x="10191750" y="2076450"/>
            <a:ext cx="1257300" cy="552450"/>
          </a:xfrm>
          <a:prstGeom prst="roundRect">
            <a:avLst>
              <a:gd name="adj" fmla="val 3448"/>
            </a:avLst>
          </a:prstGeom>
          <a:solidFill>
            <a:srgbClr val="F2F3F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65040DE-ABB8-44AF-B0B0-7372C3DF9E5D}"/>
              </a:ext>
            </a:extLst>
          </p:cNvPr>
          <p:cNvSpPr>
            <a:spLocks noGrp="1"/>
          </p:cNvSpPr>
          <p:nvPr/>
        </p:nvSpPr>
        <p:spPr>
          <a:xfrm>
            <a:off x="10325100" y="2190750"/>
            <a:ext cx="990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权重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D9F123A-FB04-4731-BAB1-576A2923391F}"/>
              </a:ext>
            </a:extLst>
          </p:cNvPr>
          <p:cNvSpPr>
            <a:spLocks noGrp="1"/>
          </p:cNvSpPr>
          <p:nvPr/>
        </p:nvSpPr>
        <p:spPr>
          <a:xfrm>
            <a:off x="876300" y="4171950"/>
            <a:ext cx="2286000" cy="95250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B6921AC-8174-46AE-8289-5A88B86E9CD4}"/>
              </a:ext>
            </a:extLst>
          </p:cNvPr>
          <p:cNvSpPr>
            <a:spLocks noGrp="1"/>
          </p:cNvSpPr>
          <p:nvPr/>
        </p:nvSpPr>
        <p:spPr>
          <a:xfrm>
            <a:off x="1047750" y="44005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基准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C59121F-B0FE-485F-AC54-B114D6A2C366}"/>
              </a:ext>
            </a:extLst>
          </p:cNvPr>
          <p:cNvSpPr>
            <a:spLocks noGrp="1"/>
          </p:cNvSpPr>
          <p:nvPr/>
        </p:nvSpPr>
        <p:spPr>
          <a:xfrm>
            <a:off x="1047750" y="47434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328" lnSpcReduction="20000"/>
          </a:bodyPr>
          <a:lstStyle/>
          <a:p>
            <a:pPr algn="l">
              <a:defRPr sz="12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七指数等权组合，季度再平衡</a:t>
            </a:r>
            <a:endParaRPr sz="1200" b="0" dirty="0">
              <a:solidFill>
                <a:srgbClr val="5D647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4ED1F97-7F1C-4B89-9262-73B8BA3CA161}"/>
              </a:ext>
            </a:extLst>
          </p:cNvPr>
          <p:cNvSpPr>
            <a:spLocks noGrp="1"/>
          </p:cNvSpPr>
          <p:nvPr/>
        </p:nvSpPr>
        <p:spPr>
          <a:xfrm>
            <a:off x="3600450" y="4171950"/>
            <a:ext cx="2286000" cy="952500"/>
          </a:xfrm>
          <a:prstGeom prst="roundRect">
            <a:avLst>
              <a:gd name="adj" fmla="val 6000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ACDEB02-1917-4C48-9690-65447435CA8D}"/>
              </a:ext>
            </a:extLst>
          </p:cNvPr>
          <p:cNvSpPr>
            <a:spLocks noGrp="1"/>
          </p:cNvSpPr>
          <p:nvPr/>
        </p:nvSpPr>
        <p:spPr>
          <a:xfrm>
            <a:off x="3771900" y="44005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风险厌恶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43E22D2-09E8-4D1E-9B1D-9C1D8B5057B3}"/>
              </a:ext>
            </a:extLst>
          </p:cNvPr>
          <p:cNvSpPr>
            <a:spLocks noGrp="1"/>
          </p:cNvSpPr>
          <p:nvPr/>
        </p:nvSpPr>
        <p:spPr>
          <a:xfrm>
            <a:off x="3771900" y="47434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δ = 2.5，用于先验收益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1693E7F7-4CD5-4C90-B236-EA6319B2740C}"/>
              </a:ext>
            </a:extLst>
          </p:cNvPr>
          <p:cNvSpPr>
            <a:spLocks noGrp="1"/>
          </p:cNvSpPr>
          <p:nvPr/>
        </p:nvSpPr>
        <p:spPr>
          <a:xfrm>
            <a:off x="6324600" y="4171950"/>
            <a:ext cx="2286000" cy="95250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E4F3909-EE7E-4558-A29D-385CB77FD2BE}"/>
              </a:ext>
            </a:extLst>
          </p:cNvPr>
          <p:cNvSpPr>
            <a:spLocks noGrp="1"/>
          </p:cNvSpPr>
          <p:nvPr/>
        </p:nvSpPr>
        <p:spPr>
          <a:xfrm>
            <a:off x="6496050" y="44005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协方差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FEDC6A9-118F-4B5F-87E5-F2FF710DA7B3}"/>
              </a:ext>
            </a:extLst>
          </p:cNvPr>
          <p:cNvSpPr>
            <a:spLocks noGrp="1"/>
          </p:cNvSpPr>
          <p:nvPr/>
        </p:nvSpPr>
        <p:spPr>
          <a:xfrm>
            <a:off x="6496050" y="47434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EWMA，半衰期 126 天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94F39191-A22B-4CC7-B74A-9C045B87FCD1}"/>
              </a:ext>
            </a:extLst>
          </p:cNvPr>
          <p:cNvSpPr>
            <a:spLocks noGrp="1"/>
          </p:cNvSpPr>
          <p:nvPr/>
        </p:nvSpPr>
        <p:spPr>
          <a:xfrm>
            <a:off x="9048750" y="4171950"/>
            <a:ext cx="2286000" cy="952500"/>
          </a:xfrm>
          <a:prstGeom prst="roundRect">
            <a:avLst>
              <a:gd name="adj" fmla="val 6000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4FEF796-2806-4E53-82D0-1AC33FC28102}"/>
              </a:ext>
            </a:extLst>
          </p:cNvPr>
          <p:cNvSpPr>
            <a:spLocks noGrp="1"/>
          </p:cNvSpPr>
          <p:nvPr/>
        </p:nvSpPr>
        <p:spPr>
          <a:xfrm>
            <a:off x="9220200" y="44005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观点置信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D14B104-871C-42B0-93F5-E06BFD206D02}"/>
              </a:ext>
            </a:extLst>
          </p:cNvPr>
          <p:cNvSpPr>
            <a:spLocks noGrp="1"/>
          </p:cNvSpPr>
          <p:nvPr/>
        </p:nvSpPr>
        <p:spPr>
          <a:xfrm>
            <a:off x="9220200" y="47434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484" lnSpcReduction="20000"/>
          </a:bodyPr>
          <a:lstStyle/>
          <a:p>
            <a:pPr algn="l">
              <a:defRPr sz="12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通过 1%-4% 跟踪误差目标控制</a:t>
            </a:r>
          </a:p>
        </p:txBody>
      </p:sp>
    </p:spTree>
    <p:extLst>
      <p:ext uri="{BB962C8B-B14F-4D97-AF65-F5344CB8AC3E}">
        <p14:creationId xmlns:p14="http://schemas.microsoft.com/office/powerpoint/2010/main" val="400432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311ED053-729B-40B6-9334-6DD81B28DFBF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81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最终组合是受约束的纯多头配置，而不是因子多空交易</a:t>
            </a:r>
            <a:endParaRPr sz="285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C9A264-E3C1-4CBE-9F5F-C91634952EFE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23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8F8FA6-B961-4B28-878A-72651A8E309A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来源：今日头条/新浪财经转载华安证券研究；Shu &amp; Mulvey, The Journal of Portfolio Management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DCA12B-8175-4E4A-AA6C-568A454DA035}"/>
              </a:ext>
            </a:extLst>
          </p:cNvPr>
          <p:cNvSpPr>
            <a:spLocks noGrp="1"/>
          </p:cNvSpPr>
          <p:nvPr/>
        </p:nvSpPr>
        <p:spPr>
          <a:xfrm>
            <a:off x="400050" y="1104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这让策略更贴近 ETF 投资，也限制了它在熊市中大幅降风险的能力。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42D04C1-9DB4-4EA3-B547-C942BB16DAC5}"/>
              </a:ext>
            </a:extLst>
          </p:cNvPr>
          <p:cNvSpPr>
            <a:spLocks noGrp="1"/>
          </p:cNvSpPr>
          <p:nvPr/>
        </p:nvSpPr>
        <p:spPr>
          <a:xfrm>
            <a:off x="647700" y="1809750"/>
            <a:ext cx="3219450" cy="1009650"/>
          </a:xfrm>
          <a:prstGeom prst="roundRect">
            <a:avLst>
              <a:gd name="adj" fmla="val 5660"/>
            </a:avLst>
          </a:prstGeom>
          <a:solidFill>
            <a:srgbClr val="F2F3F5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DAA73E5-9701-49D0-B552-E064F04AE1D1}"/>
              </a:ext>
            </a:extLst>
          </p:cNvPr>
          <p:cNvSpPr>
            <a:spLocks noGrp="1"/>
          </p:cNvSpPr>
          <p:nvPr/>
        </p:nvSpPr>
        <p:spPr>
          <a:xfrm>
            <a:off x="895350" y="20193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只做多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9B5410-09D2-4ED0-93B3-7B6CDEF81BC6}"/>
              </a:ext>
            </a:extLst>
          </p:cNvPr>
          <p:cNvSpPr>
            <a:spLocks noGrp="1"/>
          </p:cNvSpPr>
          <p:nvPr/>
        </p:nvSpPr>
        <p:spPr>
          <a:xfrm>
            <a:off x="895350" y="2400300"/>
            <a:ext cx="2628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所有七个指数权重 ≥ 0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2262A40-6A92-44D1-84AC-8443C2EB31B0}"/>
              </a:ext>
            </a:extLst>
          </p:cNvPr>
          <p:cNvSpPr>
            <a:spLocks noGrp="1"/>
          </p:cNvSpPr>
          <p:nvPr/>
        </p:nvSpPr>
        <p:spPr>
          <a:xfrm>
            <a:off x="4362450" y="1809750"/>
            <a:ext cx="3219450" cy="1009650"/>
          </a:xfrm>
          <a:prstGeom prst="roundRect">
            <a:avLst>
              <a:gd name="adj" fmla="val 5660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57361D1-2E9B-45EB-9E8C-67816AEAD1B6}"/>
              </a:ext>
            </a:extLst>
          </p:cNvPr>
          <p:cNvSpPr>
            <a:spLocks noGrp="1"/>
          </p:cNvSpPr>
          <p:nvPr/>
        </p:nvSpPr>
        <p:spPr>
          <a:xfrm>
            <a:off x="4610100" y="20193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全额投资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E8D0BE-2593-4D62-B4E8-CEF7A59CB7F8}"/>
              </a:ext>
            </a:extLst>
          </p:cNvPr>
          <p:cNvSpPr>
            <a:spLocks noGrp="1"/>
          </p:cNvSpPr>
          <p:nvPr/>
        </p:nvSpPr>
        <p:spPr>
          <a:xfrm>
            <a:off x="4610100" y="2400300"/>
            <a:ext cx="2628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权重合计 = 100%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D0F8049-E1C1-4977-8B9E-4494A356F706}"/>
              </a:ext>
            </a:extLst>
          </p:cNvPr>
          <p:cNvSpPr>
            <a:spLocks noGrp="1"/>
          </p:cNvSpPr>
          <p:nvPr/>
        </p:nvSpPr>
        <p:spPr>
          <a:xfrm>
            <a:off x="8077200" y="1809750"/>
            <a:ext cx="3219450" cy="1009650"/>
          </a:xfrm>
          <a:prstGeom prst="roundRect">
            <a:avLst>
              <a:gd name="adj" fmla="val 5660"/>
            </a:avLst>
          </a:prstGeom>
          <a:solidFill>
            <a:srgbClr val="F2F3F5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050B8E5-B15E-4CBE-8D64-289B2B733752}"/>
              </a:ext>
            </a:extLst>
          </p:cNvPr>
          <p:cNvSpPr>
            <a:spLocks noGrp="1"/>
          </p:cNvSpPr>
          <p:nvPr/>
        </p:nvSpPr>
        <p:spPr>
          <a:xfrm>
            <a:off x="8324850" y="20193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跟踪误差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3303755-8957-496F-AD59-35779A37E640}"/>
              </a:ext>
            </a:extLst>
          </p:cNvPr>
          <p:cNvSpPr>
            <a:spLocks noGrp="1"/>
          </p:cNvSpPr>
          <p:nvPr/>
        </p:nvSpPr>
        <p:spPr>
          <a:xfrm>
            <a:off x="8324850" y="2400300"/>
            <a:ext cx="2628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观点置信度对应 1%-4% TE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99D1122-A349-4853-B23F-55C30053656C}"/>
              </a:ext>
            </a:extLst>
          </p:cNvPr>
          <p:cNvSpPr>
            <a:spLocks noGrp="1"/>
          </p:cNvSpPr>
          <p:nvPr/>
        </p:nvSpPr>
        <p:spPr>
          <a:xfrm>
            <a:off x="647700" y="3295650"/>
            <a:ext cx="3219450" cy="1009650"/>
          </a:xfrm>
          <a:prstGeom prst="roundRect">
            <a:avLst>
              <a:gd name="adj" fmla="val 5660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E1B83DB-ECBD-4191-887B-7285B51EB028}"/>
              </a:ext>
            </a:extLst>
          </p:cNvPr>
          <p:cNvSpPr>
            <a:spLocks noGrp="1"/>
          </p:cNvSpPr>
          <p:nvPr/>
        </p:nvSpPr>
        <p:spPr>
          <a:xfrm>
            <a:off x="895350" y="35052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交易成本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5426A8B-AD01-4B6A-BF81-4E61C030E865}"/>
              </a:ext>
            </a:extLst>
          </p:cNvPr>
          <p:cNvSpPr>
            <a:spLocks noGrp="1"/>
          </p:cNvSpPr>
          <p:nvPr/>
        </p:nvSpPr>
        <p:spPr>
          <a:xfrm>
            <a:off x="895350" y="3886200"/>
            <a:ext cx="2628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买卖交易均收 5bp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6B38240-2ECB-485E-A7BB-68F51F5BF0DA}"/>
              </a:ext>
            </a:extLst>
          </p:cNvPr>
          <p:cNvSpPr>
            <a:spLocks noGrp="1"/>
          </p:cNvSpPr>
          <p:nvPr/>
        </p:nvSpPr>
        <p:spPr>
          <a:xfrm>
            <a:off x="4362450" y="3295650"/>
            <a:ext cx="3219450" cy="1009650"/>
          </a:xfrm>
          <a:prstGeom prst="roundRect">
            <a:avLst>
              <a:gd name="adj" fmla="val 5660"/>
            </a:avLst>
          </a:prstGeom>
          <a:solidFill>
            <a:srgbClr val="F2F3F5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F0C4454-E466-44E3-A784-652AFFE7C5F8}"/>
              </a:ext>
            </a:extLst>
          </p:cNvPr>
          <p:cNvSpPr>
            <a:spLocks noGrp="1"/>
          </p:cNvSpPr>
          <p:nvPr/>
        </p:nvSpPr>
        <p:spPr>
          <a:xfrm>
            <a:off x="4610100" y="35052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再平衡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7045BB6-8751-4D99-81CB-136178A0EF8D}"/>
              </a:ext>
            </a:extLst>
          </p:cNvPr>
          <p:cNvSpPr>
            <a:spLocks noGrp="1"/>
          </p:cNvSpPr>
          <p:nvPr/>
        </p:nvSpPr>
        <p:spPr>
          <a:xfrm>
            <a:off x="4610100" y="3886200"/>
            <a:ext cx="2628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基准季度再平衡；状态模型月度重估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4A1FED6-4950-451B-88C5-91DD2770E2C4}"/>
              </a:ext>
            </a:extLst>
          </p:cNvPr>
          <p:cNvSpPr>
            <a:spLocks noGrp="1"/>
          </p:cNvSpPr>
          <p:nvPr/>
        </p:nvSpPr>
        <p:spPr>
          <a:xfrm>
            <a:off x="8077200" y="3295650"/>
            <a:ext cx="3219450" cy="1009650"/>
          </a:xfrm>
          <a:prstGeom prst="roundRect">
            <a:avLst>
              <a:gd name="adj" fmla="val 5660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EB95487-667F-41BB-89F6-AD20155F09D8}"/>
              </a:ext>
            </a:extLst>
          </p:cNvPr>
          <p:cNvSpPr>
            <a:spLocks noGrp="1"/>
          </p:cNvSpPr>
          <p:nvPr/>
        </p:nvSpPr>
        <p:spPr>
          <a:xfrm>
            <a:off x="8324850" y="35052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实盘时点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40BA6F8-121F-4B77-B32E-76F7F382B47C}"/>
              </a:ext>
            </a:extLst>
          </p:cNvPr>
          <p:cNvSpPr>
            <a:spLocks noGrp="1"/>
          </p:cNvSpPr>
          <p:nvPr/>
        </p:nvSpPr>
        <p:spPr>
          <a:xfrm>
            <a:off x="8324850" y="3886200"/>
            <a:ext cx="2628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在线推断应用滞后一天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C0087C7-1811-45DB-B616-AB12DB8C1045}"/>
              </a:ext>
            </a:extLst>
          </p:cNvPr>
          <p:cNvSpPr>
            <a:spLocks noGrp="1"/>
          </p:cNvSpPr>
          <p:nvPr/>
        </p:nvSpPr>
        <p:spPr>
          <a:xfrm>
            <a:off x="1752600" y="5334000"/>
            <a:ext cx="847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组合层面处理的是“</a:t>
            </a:r>
            <a:r>
              <a:rPr sz="180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向哪些风格倾斜</a:t>
            </a:r>
            <a:r>
              <a:rPr sz="18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”，</a:t>
            </a:r>
            <a:r>
              <a:rPr sz="180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不是“何时离开股票市场</a:t>
            </a:r>
            <a:r>
              <a:rPr lang="zh-CN" altLang="en-US" sz="18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”</a:t>
            </a:r>
            <a:r>
              <a:rPr sz="18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95859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937C3F1A-2B33-4C06-89C0-62D7F1B9F2D3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81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单因子状态信号总体有效，但各因子难度不同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0D2E67C-053A-4430-9205-8226951367F3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23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A97E64A-9534-44E3-B6E0-E615C6DD4F73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来源：今日头条/新浪财经转载华安证券研究；Shu &amp; Mulvey, The Journal of Portfolio Management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2BFEE1-C4D3-49D0-A469-2F9F67B1915C}"/>
              </a:ext>
            </a:extLst>
          </p:cNvPr>
          <p:cNvSpPr>
            <a:spLocks noGrp="1"/>
          </p:cNvSpPr>
          <p:nvPr/>
        </p:nvSpPr>
        <p:spPr>
          <a:xfrm>
            <a:off x="400050" y="1104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测试期内，六个因子的假设性多空策略夏普均为正，且信号间相关性普遍较低。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7F473F1-2039-4BCF-B76B-710F7D0AA66B}"/>
              </a:ext>
            </a:extLst>
          </p:cNvPr>
          <p:cNvSpPr>
            <a:spLocks noGrp="1"/>
          </p:cNvSpPr>
          <p:nvPr/>
        </p:nvSpPr>
        <p:spPr>
          <a:xfrm>
            <a:off x="590550" y="1657350"/>
            <a:ext cx="4000500" cy="3619500"/>
          </a:xfrm>
          <a:prstGeom prst="roundRect">
            <a:avLst>
              <a:gd name="adj" fmla="val 1579"/>
            </a:avLst>
          </a:prstGeom>
          <a:solidFill>
            <a:srgbClr val="F2F3F5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7DAAB75-15FD-415D-A155-230714A97EEC}"/>
              </a:ext>
            </a:extLst>
          </p:cNvPr>
          <p:cNvSpPr>
            <a:spLocks noGrp="1"/>
          </p:cNvSpPr>
          <p:nvPr/>
        </p:nvSpPr>
        <p:spPr>
          <a:xfrm>
            <a:off x="895350" y="19621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文章给出的关键读数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15617C-EAD6-44D4-8AAB-C62FB6D9813E}"/>
              </a:ext>
            </a:extLst>
          </p:cNvPr>
          <p:cNvSpPr>
            <a:spLocks noGrp="1"/>
          </p:cNvSpPr>
          <p:nvPr/>
        </p:nvSpPr>
        <p:spPr>
          <a:xfrm>
            <a:off x="895350" y="259080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EE217F1-AEFE-45E3-B670-1D2AB60BA120}"/>
              </a:ext>
            </a:extLst>
          </p:cNvPr>
          <p:cNvSpPr>
            <a:spLocks noGrp="1"/>
          </p:cNvSpPr>
          <p:nvPr/>
        </p:nvSpPr>
        <p:spPr>
          <a:xfrm>
            <a:off x="1333500" y="2571750"/>
            <a:ext cx="2705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各因子多空策略夏普均为正，说明状态识别有潜在应用价值。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E1BC0E0-8CED-4ACD-B7FE-298F6D84DBAF}"/>
              </a:ext>
            </a:extLst>
          </p:cNvPr>
          <p:cNvSpPr>
            <a:spLocks noGrp="1"/>
          </p:cNvSpPr>
          <p:nvPr/>
        </p:nvSpPr>
        <p:spPr>
          <a:xfrm>
            <a:off x="895350" y="327660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72EDE5-781C-4DC3-B9D1-220AEF753FFA}"/>
              </a:ext>
            </a:extLst>
          </p:cNvPr>
          <p:cNvSpPr>
            <a:spLocks noGrp="1"/>
          </p:cNvSpPr>
          <p:nvPr/>
        </p:nvSpPr>
        <p:spPr>
          <a:xfrm>
            <a:off x="1333500" y="3257550"/>
            <a:ext cx="2705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621"/>
          </a:bodyPr>
          <a:lstStyle/>
          <a:p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动量因子夏普约 0.16；价值和成长接近 0.4，因子间识别难度不同。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0B87E43-3BA1-49F3-AF80-AAE4C0201B00}"/>
              </a:ext>
            </a:extLst>
          </p:cNvPr>
          <p:cNvSpPr>
            <a:spLocks noGrp="1"/>
          </p:cNvSpPr>
          <p:nvPr/>
        </p:nvSpPr>
        <p:spPr>
          <a:xfrm>
            <a:off x="895350" y="396240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F3E0ECD-7984-4855-8786-C65EE6DFE535}"/>
              </a:ext>
            </a:extLst>
          </p:cNvPr>
          <p:cNvSpPr>
            <a:spLocks noGrp="1"/>
          </p:cNvSpPr>
          <p:nvPr/>
        </p:nvSpPr>
        <p:spPr>
          <a:xfrm>
            <a:off x="1333500" y="3943350"/>
            <a:ext cx="2705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因子策略相关性普遍低于 0.5，适合通过 BL 进行综合。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4F21295-AB6B-4F00-BED9-E6FA0CFF6D61}"/>
              </a:ext>
            </a:extLst>
          </p:cNvPr>
          <p:cNvSpPr>
            <a:spLocks noGrp="1"/>
          </p:cNvSpPr>
          <p:nvPr/>
        </p:nvSpPr>
        <p:spPr>
          <a:xfrm>
            <a:off x="5181600" y="1600200"/>
            <a:ext cx="5962650" cy="388620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57800" y="1677665"/>
            <a:ext cx="5810250" cy="373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080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90C080F-E357-4B02-BB2E-4B2EED119E8E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81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组合层面，动态配置显著提高主动表现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FB90C0-6C1E-4D35-9F71-A1295BA00CDA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23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6CD958D-15F2-4C8A-BD01-845374A48550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来源：今日头条/新浪财经转载华安证券研究；Shu &amp; Mulvey, The Journal of Portfolio Management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409B491-301E-4D42-994D-A4FAFE029E05}"/>
              </a:ext>
            </a:extLst>
          </p:cNvPr>
          <p:cNvSpPr>
            <a:spLocks noGrp="1"/>
          </p:cNvSpPr>
          <p:nvPr/>
        </p:nvSpPr>
        <p:spPr>
          <a:xfrm>
            <a:off x="400050" y="1104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相对市场和相对等权基准，文章都报告了更高的信息比率和更好的风险指标。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="552450" y="1676400"/>
          <a:ext cx="4953000" cy="3581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BE61AEE4-03F6-41F9-864C-2033D6C6E7DA}"/>
              </a:ext>
            </a:extLst>
          </p:cNvPr>
          <p:cNvSpPr>
            <a:spLocks noGrp="1"/>
          </p:cNvSpPr>
          <p:nvPr/>
        </p:nvSpPr>
        <p:spPr>
          <a:xfrm>
            <a:off x="838200" y="5353050"/>
            <a:ext cx="438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IR 从 0.05 提升到最高约 0.44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BC9C386-2AEF-43A3-8CEC-AD241E45721C}"/>
              </a:ext>
            </a:extLst>
          </p:cNvPr>
          <p:cNvSpPr>
            <a:spLocks noGrp="1"/>
          </p:cNvSpPr>
          <p:nvPr/>
        </p:nvSpPr>
        <p:spPr>
          <a:xfrm>
            <a:off x="6248400" y="1619250"/>
            <a:ext cx="4914900" cy="3009900"/>
          </a:xfrm>
          <a:prstGeom prst="roundRect">
            <a:avLst>
              <a:gd name="adj" fmla="val 1899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30785" y="1695450"/>
            <a:ext cx="4750130" cy="28575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D07708C-4D7F-4C5B-967C-A426B7C8662E}"/>
              </a:ext>
            </a:extLst>
          </p:cNvPr>
          <p:cNvSpPr>
            <a:spLocks noGrp="1"/>
          </p:cNvSpPr>
          <p:nvPr/>
        </p:nvSpPr>
        <p:spPr>
          <a:xfrm>
            <a:off x="6153150" y="5010150"/>
            <a:ext cx="5276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其他结果：相对市场最大回撤由 -10% 改善至约 -6%；相对等权基准的信息比率约 0.4-0.5。</a:t>
            </a:r>
          </a:p>
        </p:txBody>
      </p:sp>
    </p:spTree>
    <p:extLst>
      <p:ext uri="{BB962C8B-B14F-4D97-AF65-F5344CB8AC3E}">
        <p14:creationId xmlns:p14="http://schemas.microsoft.com/office/powerpoint/2010/main" val="813216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17A59F6-EFD5-4591-A811-6B040CFAB14B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981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更高跟踪误差带来更高收益，也带来更高换手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1AFD61-3379-4FBF-BFF9-F4A71D59012E}"/>
              </a:ext>
            </a:extLst>
          </p:cNvPr>
          <p:cNvSpPr>
            <a:spLocks noGrp="1"/>
          </p:cNvSpPr>
          <p:nvPr/>
        </p:nvSpPr>
        <p:spPr>
          <a:xfrm>
            <a:off x="11277600" y="6276975"/>
            <a:ext cx="523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def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C71AD4-022A-4D17-9B99-06E89DEE60DD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来源：今日头条/新浪财经转载华安证券研究；Shu &amp; Mulvey, The Journal of Portfolio Management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BB1581-235F-40C2-888A-74A36E86E9DB}"/>
              </a:ext>
            </a:extLst>
          </p:cNvPr>
          <p:cNvSpPr>
            <a:spLocks noGrp="1"/>
          </p:cNvSpPr>
          <p:nvPr/>
        </p:nvSpPr>
        <p:spPr>
          <a:xfrm>
            <a:off x="400050" y="1104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文章的绝对表现表明：允许更强的动态偏离后，超额收益和夏普基本单调改善。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6C2C5CC-81E5-4957-B1C4-535E97AC4DF2}"/>
              </a:ext>
            </a:extLst>
          </p:cNvPr>
          <p:cNvSpPr>
            <a:spLocks noGrp="1"/>
          </p:cNvSpPr>
          <p:nvPr/>
        </p:nvSpPr>
        <p:spPr>
          <a:xfrm>
            <a:off x="590550" y="1600200"/>
            <a:ext cx="5105400" cy="4248150"/>
          </a:xfrm>
          <a:prstGeom prst="roundRect">
            <a:avLst>
              <a:gd name="adj" fmla="val 1345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5899" y="1676400"/>
            <a:ext cx="4234701" cy="4095750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0B3AA0DE-38EE-43B5-BAD4-2798A0A425AF}"/>
              </a:ext>
            </a:extLst>
          </p:cNvPr>
          <p:cNvSpPr>
            <a:spLocks noGrp="1"/>
          </p:cNvSpPr>
          <p:nvPr/>
        </p:nvSpPr>
        <p:spPr>
          <a:xfrm>
            <a:off x="6343650" y="1676400"/>
            <a:ext cx="4591050" cy="3333750"/>
          </a:xfrm>
          <a:prstGeom prst="roundRect">
            <a:avLst>
              <a:gd name="adj" fmla="val 1714"/>
            </a:avLst>
          </a:prstGeom>
          <a:solidFill>
            <a:srgbClr val="F2F3F5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801F0FD-63D2-440F-93BF-CEE97B81C21D}"/>
              </a:ext>
            </a:extLst>
          </p:cNvPr>
          <p:cNvSpPr>
            <a:spLocks noGrp="1"/>
          </p:cNvSpPr>
          <p:nvPr/>
        </p:nvSpPr>
        <p:spPr>
          <a:xfrm>
            <a:off x="6667500" y="20002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154" lnSpcReduction="10000"/>
          </a:bodyPr>
          <a:lstStyle/>
          <a:p>
            <a:pPr algn="l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读图逻辑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6AED53-FE65-4542-A3D6-596A384643A0}"/>
              </a:ext>
            </a:extLst>
          </p:cNvPr>
          <p:cNvSpPr>
            <a:spLocks noGrp="1"/>
          </p:cNvSpPr>
          <p:nvPr/>
        </p:nvSpPr>
        <p:spPr>
          <a:xfrm>
            <a:off x="6667500" y="257175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E317F1-6190-4EC3-B27B-964CA0C202A8}"/>
              </a:ext>
            </a:extLst>
          </p:cNvPr>
          <p:cNvSpPr>
            <a:spLocks noGrp="1"/>
          </p:cNvSpPr>
          <p:nvPr/>
        </p:nvSpPr>
        <p:spPr>
          <a:xfrm>
            <a:off x="7105650" y="2552700"/>
            <a:ext cx="3276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跟踪误差目标越高，组合越敢偏离等权基准。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EFB5EFC-63AA-411B-952C-0DF2D0365770}"/>
              </a:ext>
            </a:extLst>
          </p:cNvPr>
          <p:cNvSpPr>
            <a:spLocks noGrp="1"/>
          </p:cNvSpPr>
          <p:nvPr/>
        </p:nvSpPr>
        <p:spPr>
          <a:xfrm>
            <a:off x="6667500" y="325755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31738AA-764B-4318-B580-554395A9F209}"/>
              </a:ext>
            </a:extLst>
          </p:cNvPr>
          <p:cNvSpPr>
            <a:spLocks noGrp="1"/>
          </p:cNvSpPr>
          <p:nvPr/>
        </p:nvSpPr>
        <p:spPr>
          <a:xfrm>
            <a:off x="7105650" y="3238500"/>
            <a:ext cx="3276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更高偏离带来更高换手，文章提到约 500% 年化单边换手仍属主动管理可接受范围。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409935E-6CA7-478E-91BF-DCCA7E485CE9}"/>
              </a:ext>
            </a:extLst>
          </p:cNvPr>
          <p:cNvSpPr>
            <a:spLocks noGrp="1"/>
          </p:cNvSpPr>
          <p:nvPr/>
        </p:nvSpPr>
        <p:spPr>
          <a:xfrm>
            <a:off x="6667500" y="394335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32EC49B-557C-4B86-86EB-EF88D75C2C63}"/>
              </a:ext>
            </a:extLst>
          </p:cNvPr>
          <p:cNvSpPr>
            <a:spLocks noGrp="1"/>
          </p:cNvSpPr>
          <p:nvPr/>
        </p:nvSpPr>
        <p:spPr>
          <a:xfrm>
            <a:off x="7105650" y="3924300"/>
            <a:ext cx="3276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累计超额收益在 2012 年后持续拉开，尤其优于等权因子基准后期走弱阶段。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8F46A05-3A0E-490D-8E44-65ABD84CEC2E}"/>
              </a:ext>
            </a:extLst>
          </p:cNvPr>
          <p:cNvSpPr>
            <a:spLocks noGrp="1"/>
          </p:cNvSpPr>
          <p:nvPr/>
        </p:nvSpPr>
        <p:spPr>
          <a:xfrm>
            <a:off x="6553200" y="533400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833"/>
          </a:bodyPr>
          <a:lstStyle/>
          <a:p>
            <a:pPr algn="ctr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权衡：收益改善来自更主动的风格切换和更高交易强度</a:t>
            </a:r>
            <a:r>
              <a:rPr sz="15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6802319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1056</Words>
  <Application>Microsoft Office PowerPoint</Application>
  <DocSecurity>0</DocSecurity>
  <PresentationFormat>宽屏</PresentationFormat>
  <Paragraphs>263</Paragraphs>
  <Slides>17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Microsoft YaHei</vt:lpstr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LIN Junxi</cp:lastModifiedBy>
  <cp:revision>2</cp:revision>
  <dcterms:created xsi:type="dcterms:W3CDTF">2026-07-13T08:51:39Z</dcterms:created>
  <dcterms:modified xsi:type="dcterms:W3CDTF">2026-07-14T06:33:32Z</dcterms:modified>
</cp:coreProperties>
</file>